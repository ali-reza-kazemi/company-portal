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813907d4c44051" /><Relationship Type="http://schemas.openxmlformats.org/officeDocument/2006/relationships/extended-properties" Target="/docProps/app.xml" Id="R263e5be047374086" /><Relationship Type="http://schemas.openxmlformats.org/officeDocument/2006/relationships/officeDocument" Target="/ppt/presentation.xml" Id="R0833157ccb3b4823" /></Relationships>
</file>

<file path=ppt/presentation.xml><?xml version="1.0" encoding="utf-8"?>
<p:presentation xmlns:p="http://schemas.openxmlformats.org/presentationml/2006/main">
  <p:sldMasterIdLst>
    <p:sldMasterId xmlns:r="http://schemas.openxmlformats.org/officeDocument/2006/relationships" id="2147483648" r:id="R8aef0aaeec3f4468"/>
  </p:sldMasterIdLst>
  <p:notesMasterIdLst>
    <p:notesMasterId xmlns:r="http://schemas.openxmlformats.org/officeDocument/2006/relationships" r:id="Re045eb24342e4b1f"/>
  </p:notesMasterIdLst>
  <p:sldIdLst>
    <p:sldId xmlns:r="http://schemas.openxmlformats.org/officeDocument/2006/relationships" id="256" r:id="R1d259ec172fc40da"/>
    <p:sldId xmlns:r="http://schemas.openxmlformats.org/officeDocument/2006/relationships" id="257" r:id="Red605a3c2bec4915"/>
    <p:sldId xmlns:r="http://schemas.openxmlformats.org/officeDocument/2006/relationships" id="258" r:id="R9b07c561aaca479b"/>
    <p:sldId xmlns:r="http://schemas.openxmlformats.org/officeDocument/2006/relationships" id="259" r:id="R9ad8f0ebbcb04368"/>
    <p:sldId xmlns:r="http://schemas.openxmlformats.org/officeDocument/2006/relationships" id="260" r:id="R49a763453eb74ca0"/>
    <p:sldId xmlns:r="http://schemas.openxmlformats.org/officeDocument/2006/relationships" id="261" r:id="Re6aba4e664764c2a"/>
    <p:sldId xmlns:r="http://schemas.openxmlformats.org/officeDocument/2006/relationships" id="262" r:id="Re9075831b06f4c46"/>
    <p:sldId xmlns:r="http://schemas.openxmlformats.org/officeDocument/2006/relationships" id="263" r:id="Rb37ec17470584668"/>
    <p:sldId xmlns:r="http://schemas.openxmlformats.org/officeDocument/2006/relationships" id="264" r:id="R0d5a1f1358204dc5"/>
    <p:sldId xmlns:r="http://schemas.openxmlformats.org/officeDocument/2006/relationships" id="265" r:id="R1864d48480ba4b5b"/>
    <p:sldId xmlns:r="http://schemas.openxmlformats.org/officeDocument/2006/relationships" id="266" r:id="Rdbe02bd250ac4368"/>
    <p:sldId xmlns:r="http://schemas.openxmlformats.org/officeDocument/2006/relationships" id="267" r:id="Racaa41761d4a446a"/>
    <p:sldId xmlns:r="http://schemas.openxmlformats.org/officeDocument/2006/relationships" id="268" r:id="Rfc85bfc6dcf14558"/>
    <p:sldId xmlns:r="http://schemas.openxmlformats.org/officeDocument/2006/relationships" id="269" r:id="R149c1cdb3e324edd"/>
    <p:sldId xmlns:r="http://schemas.openxmlformats.org/officeDocument/2006/relationships" id="270" r:id="R090cab297e594e52"/>
    <p:sldId xmlns:r="http://schemas.openxmlformats.org/officeDocument/2006/relationships" id="271" r:id="R5e075f526edd4f4d"/>
    <p:sldId xmlns:r="http://schemas.openxmlformats.org/officeDocument/2006/relationships" id="272" r:id="R15d599bbadb04bf3"/>
    <p:sldId xmlns:r="http://schemas.openxmlformats.org/officeDocument/2006/relationships" id="273" r:id="R782e7d413f084182"/>
    <p:sldId xmlns:r="http://schemas.openxmlformats.org/officeDocument/2006/relationships" id="274" r:id="R4a38ef52106e40c7"/>
    <p:sldId xmlns:r="http://schemas.openxmlformats.org/officeDocument/2006/relationships" id="275" r:id="R7d47069312504022"/>
    <p:sldId xmlns:r="http://schemas.openxmlformats.org/officeDocument/2006/relationships" id="276" r:id="R2c493eee8ea84e97"/>
    <p:sldId xmlns:r="http://schemas.openxmlformats.org/officeDocument/2006/relationships" id="277" r:id="R60e55061b1bc452a"/>
    <p:sldId xmlns:r="http://schemas.openxmlformats.org/officeDocument/2006/relationships" id="278" r:id="R9780f9fc56db4330"/>
    <p:sldId xmlns:r="http://schemas.openxmlformats.org/officeDocument/2006/relationships" id="279" r:id="Rbc81550f71e04bc4"/>
    <p:sldId xmlns:r="http://schemas.openxmlformats.org/officeDocument/2006/relationships" id="280" r:id="Re385f38008024d37"/>
    <p:sldId xmlns:r="http://schemas.openxmlformats.org/officeDocument/2006/relationships" id="281" r:id="R4d568af7a177496e"/>
    <p:sldId xmlns:r="http://schemas.openxmlformats.org/officeDocument/2006/relationships" id="282" r:id="Rc8fcea1372df4956"/>
    <p:sldId xmlns:r="http://schemas.openxmlformats.org/officeDocument/2006/relationships" id="283" r:id="R900e983d731c4a2b"/>
    <p:sldId xmlns:r="http://schemas.openxmlformats.org/officeDocument/2006/relationships" id="284" r:id="Rfc6a6cb33f50497a"/>
    <p:sldId xmlns:r="http://schemas.openxmlformats.org/officeDocument/2006/relationships" id="285" r:id="Rd25638a4ba114cfe"/>
    <p:sldId xmlns:r="http://schemas.openxmlformats.org/officeDocument/2006/relationships" id="286" r:id="R5cbf9fff436a4df2"/>
    <p:sldId xmlns:r="http://schemas.openxmlformats.org/officeDocument/2006/relationships" id="287" r:id="R15342693a70346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d2e853ca3842eb" /><Relationship Type="http://schemas.openxmlformats.org/officeDocument/2006/relationships/slideMaster" Target="/ppt/slideMasters/slideMaster1.xml" Id="R8aef0aaeec3f4468" /><Relationship Type="http://schemas.openxmlformats.org/officeDocument/2006/relationships/notesMaster" Target="/ppt/notesMasters/notesMaster1.xml" Id="Re045eb24342e4b1f" /><Relationship Type="http://schemas.openxmlformats.org/officeDocument/2006/relationships/presProps" Target="/ppt/presProps.xml" Id="R9390339a16f2428c" /><Relationship Type="http://schemas.openxmlformats.org/officeDocument/2006/relationships/tableStyles" Target="/ppt/tableStyles.xml" Id="R92645fc0640c4575" /><Relationship Type="http://schemas.openxmlformats.org/officeDocument/2006/relationships/slide" Target="/ppt/slides/slide1.xml" Id="R1d259ec172fc40da" /><Relationship Type="http://schemas.openxmlformats.org/officeDocument/2006/relationships/slide" Target="/ppt/slides/slide2.xml" Id="Red605a3c2bec4915" /><Relationship Type="http://schemas.openxmlformats.org/officeDocument/2006/relationships/slide" Target="/ppt/slides/slide3.xml" Id="R9b07c561aaca479b" /><Relationship Type="http://schemas.openxmlformats.org/officeDocument/2006/relationships/slide" Target="/ppt/slides/slide4.xml" Id="R9ad8f0ebbcb04368" /><Relationship Type="http://schemas.openxmlformats.org/officeDocument/2006/relationships/slide" Target="/ppt/slides/slide5.xml" Id="R49a763453eb74ca0" /><Relationship Type="http://schemas.openxmlformats.org/officeDocument/2006/relationships/slide" Target="/ppt/slides/slide6.xml" Id="Re6aba4e664764c2a" /><Relationship Type="http://schemas.openxmlformats.org/officeDocument/2006/relationships/slide" Target="/ppt/slides/slide7.xml" Id="Re9075831b06f4c46" /><Relationship Type="http://schemas.openxmlformats.org/officeDocument/2006/relationships/slide" Target="/ppt/slides/slide8.xml" Id="Rb37ec17470584668" /><Relationship Type="http://schemas.openxmlformats.org/officeDocument/2006/relationships/slide" Target="/ppt/slides/slide9.xml" Id="R0d5a1f1358204dc5" /><Relationship Type="http://schemas.openxmlformats.org/officeDocument/2006/relationships/slide" Target="/ppt/slides/slide10.xml" Id="R1864d48480ba4b5b" /><Relationship Type="http://schemas.openxmlformats.org/officeDocument/2006/relationships/slide" Target="/ppt/slides/slide11.xml" Id="Rdbe02bd250ac4368" /><Relationship Type="http://schemas.openxmlformats.org/officeDocument/2006/relationships/slide" Target="/ppt/slides/slide12.xml" Id="Racaa41761d4a446a" /><Relationship Type="http://schemas.openxmlformats.org/officeDocument/2006/relationships/slide" Target="/ppt/slides/slide13.xml" Id="Rfc85bfc6dcf14558" /><Relationship Type="http://schemas.openxmlformats.org/officeDocument/2006/relationships/slide" Target="/ppt/slides/slide14.xml" Id="R149c1cdb3e324edd" /><Relationship Type="http://schemas.openxmlformats.org/officeDocument/2006/relationships/slide" Target="/ppt/slides/slide15.xml" Id="R090cab297e594e52" /><Relationship Type="http://schemas.openxmlformats.org/officeDocument/2006/relationships/slide" Target="/ppt/slides/slide16.xml" Id="R5e075f526edd4f4d" /><Relationship Type="http://schemas.openxmlformats.org/officeDocument/2006/relationships/slide" Target="/ppt/slides/slide17.xml" Id="R15d599bbadb04bf3" /><Relationship Type="http://schemas.openxmlformats.org/officeDocument/2006/relationships/slide" Target="/ppt/slides/slide18.xml" Id="R782e7d413f084182" /><Relationship Type="http://schemas.openxmlformats.org/officeDocument/2006/relationships/slide" Target="/ppt/slides/slide19.xml" Id="R4a38ef52106e40c7" /><Relationship Type="http://schemas.openxmlformats.org/officeDocument/2006/relationships/slide" Target="/ppt/slides/slide20.xml" Id="R7d47069312504022" /><Relationship Type="http://schemas.openxmlformats.org/officeDocument/2006/relationships/slide" Target="/ppt/slides/slide21.xml" Id="R2c493eee8ea84e97" /><Relationship Type="http://schemas.openxmlformats.org/officeDocument/2006/relationships/slide" Target="/ppt/slides/slide22.xml" Id="R60e55061b1bc452a" /><Relationship Type="http://schemas.openxmlformats.org/officeDocument/2006/relationships/slide" Target="/ppt/slides/slide23.xml" Id="R9780f9fc56db4330" /><Relationship Type="http://schemas.openxmlformats.org/officeDocument/2006/relationships/slide" Target="/ppt/slides/slide24.xml" Id="Rbc81550f71e04bc4" /><Relationship Type="http://schemas.openxmlformats.org/officeDocument/2006/relationships/slide" Target="/ppt/slides/slide25.xml" Id="Re385f38008024d37" /><Relationship Type="http://schemas.openxmlformats.org/officeDocument/2006/relationships/slide" Target="/ppt/slides/slide26.xml" Id="R4d568af7a177496e" /><Relationship Type="http://schemas.openxmlformats.org/officeDocument/2006/relationships/slide" Target="/ppt/slides/slide27.xml" Id="Rc8fcea1372df4956" /><Relationship Type="http://schemas.openxmlformats.org/officeDocument/2006/relationships/slide" Target="/ppt/slides/slide28.xml" Id="R900e983d731c4a2b" /><Relationship Type="http://schemas.openxmlformats.org/officeDocument/2006/relationships/slide" Target="/ppt/slides/slide29.xml" Id="Rfc6a6cb33f50497a" /><Relationship Type="http://schemas.openxmlformats.org/officeDocument/2006/relationships/slide" Target="/ppt/slides/slide30.xml" Id="Rd25638a4ba114cfe" /><Relationship Type="http://schemas.openxmlformats.org/officeDocument/2006/relationships/slide" Target="/ppt/slides/slide31.xml" Id="R5cbf9fff436a4df2" /><Relationship Type="http://schemas.openxmlformats.org/officeDocument/2006/relationships/slide" Target="/ppt/slides/slide32.xml" Id="R15342693a70346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8c788d455041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0f61d6ec0b417f" /><Relationship Type="http://schemas.openxmlformats.org/officeDocument/2006/relationships/notesMaster" Target="/ppt/notesMasters/notesMaster1.xml" Id="Rdcc471abddc44c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10f8c7a2f4dca" /><Relationship Type="http://schemas.openxmlformats.org/officeDocument/2006/relationships/notesMaster" Target="/ppt/notesMasters/notesMaster1.xml" Id="R9cfc23f7050f47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29b0e2e42941b5" /><Relationship Type="http://schemas.openxmlformats.org/officeDocument/2006/relationships/notesMaster" Target="/ppt/notesMasters/notesMaster1.xml" Id="R0ee7a576e43c44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2a5379472a4dc9" /><Relationship Type="http://schemas.openxmlformats.org/officeDocument/2006/relationships/notesMaster" Target="/ppt/notesMasters/notesMaster1.xml" Id="Raf92bab8cda745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da0cf5153b4a54" /><Relationship Type="http://schemas.openxmlformats.org/officeDocument/2006/relationships/notesMaster" Target="/ppt/notesMasters/notesMaster1.xml" Id="Raf0071f77e7a44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b1b0588aed4d5b" /><Relationship Type="http://schemas.openxmlformats.org/officeDocument/2006/relationships/notesMaster" Target="/ppt/notesMasters/notesMaster1.xml" Id="R1357382cabf742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7f7b08dd4a45f9" /><Relationship Type="http://schemas.openxmlformats.org/officeDocument/2006/relationships/notesMaster" Target="/ppt/notesMasters/notesMaster1.xml" Id="R5fe127d8a86149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e4c27e2fb84c76" /><Relationship Type="http://schemas.openxmlformats.org/officeDocument/2006/relationships/notesMaster" Target="/ppt/notesMasters/notesMaster1.xml" Id="Ra4cb4761a7944b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80afbc686d4cc2" /><Relationship Type="http://schemas.openxmlformats.org/officeDocument/2006/relationships/notesMaster" Target="/ppt/notesMasters/notesMaster1.xml" Id="R53fd924f83e44c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507d1c1a604fc6" /><Relationship Type="http://schemas.openxmlformats.org/officeDocument/2006/relationships/notesMaster" Target="/ppt/notesMasters/notesMaster1.xml" Id="R22829c25e597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30af02cb4b4ed1" /><Relationship Type="http://schemas.openxmlformats.org/officeDocument/2006/relationships/notesMaster" Target="/ppt/notesMasters/notesMaster1.xml" Id="Raeb88a83850f4d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384b7ac4c64eef" /><Relationship Type="http://schemas.openxmlformats.org/officeDocument/2006/relationships/notesMaster" Target="/ppt/notesMasters/notesMaster1.xml" Id="Rf633d322238747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4e77c97e3e4bec" /><Relationship Type="http://schemas.openxmlformats.org/officeDocument/2006/relationships/notesMaster" Target="/ppt/notesMasters/notesMaster1.xml" Id="Ra81582303afa4b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b048c90e0d490a" /><Relationship Type="http://schemas.openxmlformats.org/officeDocument/2006/relationships/notesMaster" Target="/ppt/notesMasters/notesMaster1.xml" Id="Rac314cf8e81e4c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a7e8eafe414f0c" /><Relationship Type="http://schemas.openxmlformats.org/officeDocument/2006/relationships/notesMaster" Target="/ppt/notesMasters/notesMaster1.xml" Id="R12c2c94901084a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58386645714925" /><Relationship Type="http://schemas.openxmlformats.org/officeDocument/2006/relationships/notesMaster" Target="/ppt/notesMasters/notesMaster1.xml" Id="R72b592f4fb344c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64cae956d34ea5" /><Relationship Type="http://schemas.openxmlformats.org/officeDocument/2006/relationships/notesMaster" Target="/ppt/notesMasters/notesMaster1.xml" Id="R4c44bd6372b946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1d9b19ea2346fd" /><Relationship Type="http://schemas.openxmlformats.org/officeDocument/2006/relationships/notesMaster" Target="/ppt/notesMasters/notesMaster1.xml" Id="R6a6518e8124448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e22c6ae2804a95" /><Relationship Type="http://schemas.openxmlformats.org/officeDocument/2006/relationships/notesMaster" Target="/ppt/notesMasters/notesMaster1.xml" Id="Rce9e44d63a2e42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1fd534d176420a" /><Relationship Type="http://schemas.openxmlformats.org/officeDocument/2006/relationships/notesMaster" Target="/ppt/notesMasters/notesMaster1.xml" Id="Re4509e866f4b46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25827009d44279" /><Relationship Type="http://schemas.openxmlformats.org/officeDocument/2006/relationships/notesMaster" Target="/ppt/notesMasters/notesMaster1.xml" Id="R6f43cb3eb5be42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235b0f15ae4369" /><Relationship Type="http://schemas.openxmlformats.org/officeDocument/2006/relationships/notesMaster" Target="/ppt/notesMasters/notesMaster1.xml" Id="Rd29f0b7c970b48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2b03784d5f4c77" /><Relationship Type="http://schemas.openxmlformats.org/officeDocument/2006/relationships/notesMaster" Target="/ppt/notesMasters/notesMaster1.xml" Id="R34a62d604bf646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c969f0ed904729" /><Relationship Type="http://schemas.openxmlformats.org/officeDocument/2006/relationships/notesMaster" Target="/ppt/notesMasters/notesMaster1.xml" Id="Rfae876b6cbfc44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2a1a62fc084f3c" /><Relationship Type="http://schemas.openxmlformats.org/officeDocument/2006/relationships/notesMaster" Target="/ppt/notesMasters/notesMaster1.xml" Id="R6f067a4a38e748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fa92f3277104e8c" /><Relationship Type="http://schemas.openxmlformats.org/officeDocument/2006/relationships/notesMaster" Target="/ppt/notesMasters/notesMaster1.xml" Id="R59114533f35d42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7b336906744642" /><Relationship Type="http://schemas.openxmlformats.org/officeDocument/2006/relationships/notesMaster" Target="/ppt/notesMasters/notesMaster1.xml" Id="R82e3bb63124b45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9f3397013564b6a" /><Relationship Type="http://schemas.openxmlformats.org/officeDocument/2006/relationships/notesMaster" Target="/ppt/notesMasters/notesMaster1.xml" Id="R06dc8698f2b04ab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55e26fd8dc4c4d" /><Relationship Type="http://schemas.openxmlformats.org/officeDocument/2006/relationships/notesMaster" Target="/ppt/notesMasters/notesMaster1.xml" Id="R81bda36a199d44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cbaee107f8421f" /><Relationship Type="http://schemas.openxmlformats.org/officeDocument/2006/relationships/notesMaster" Target="/ppt/notesMasters/notesMaster1.xml" Id="R82aaa797b4a24c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0a89d5c1304a37" /><Relationship Type="http://schemas.openxmlformats.org/officeDocument/2006/relationships/notesMaster" Target="/ppt/notesMasters/notesMaster1.xml" Id="Rf6bde59d450d48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70d32efb00f46b4" /><Relationship Type="http://schemas.openxmlformats.org/officeDocument/2006/relationships/notesMaster" Target="/ppt/notesMasters/notesMaster1.xml" Id="R38626f6a223d48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راهنما مسیرهایی را توضیح می‌دهد که در نسخه فعلی سامانه آماده و با کاربران تمرین شده‌اند. برای حرکت بین اسلایدها از کلیدهای جهت استفاده کنید. رمزهای ورود عمداً در فایل نیستند.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ورود و پیدا کردن کارهای خود</a:t>
            </a:r>
          </a:p>
          <a:p xmlns:a="http://schemas.openxmlformats.org/drawingml/2006/main">
            <a:r>
              <a:t>۲. ثبت پیشرفت، نتیجه و انجام در موعد</a:t>
            </a:r>
          </a:p>
          <a:p xmlns:a="http://schemas.openxmlformats.org/drawingml/2006/main">
            <a:r>
              <a:t>۳. ثبت مقدار شاخص، بدون تعیین هدف</a:t>
            </a:r>
          </a:p>
          <a:p xmlns:a="http://schemas.openxmlformats.org/drawingml/2006/main">
            <a:r>
              <a:t>۴. ارسال گزارش، بررسی مدیر و درخواست تصمیم</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اختیار اصلی | حوزه | کاربر</a:t>
            </a:r>
          </a:p>
          <a:p xmlns:a="http://schemas.openxmlformats.org/drawingml/2006/main">
            <a:r>
              <a:t>بررسی همه حوزه‌ها و پاسخ مدیریتی | همه واحدها | جواد چنارانی</a:t>
            </a:r>
          </a:p>
          <a:p xmlns:a="http://schemas.openxmlformats.org/drawingml/2006/main">
            <a:r>
              <a:t>ثبت و پیگیری اطلاعات حوزه | موجودی + فناوری اطلاعات | علیرضا کاظمی</a:t>
            </a:r>
          </a:p>
          <a:p xmlns:a="http://schemas.openxmlformats.org/drawingml/2006/main">
            <a:r>
              <a:t>ثبت و پیگیری اطلاعات حوزه | بازاریابی و مهندسی فروش | رابعه خانبابایی</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رمز اولیه هر کاربر در فایل تحویل محلی .local/initial-users.json است. مدیر سامانه باید آن را از مسیر امن در اختیار صاحب حساب بگذارد. این فایل داخل Git نیست. نشانی localhost فقط روی کامپیوتر میزبان کار 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کارها و ثبت پیشرفت: فعالیت‌ها و موعدهای شما</a:t>
            </a:r>
          </a:p>
          <a:p xmlns:a="http://schemas.openxmlformats.org/drawingml/2006/main">
            <a:r>
              <a:t>نتایج شاخص‌ها: عددهای ثبت‌شده برای هر دوره</a:t>
            </a:r>
          </a:p>
          <a:p xmlns:a="http://schemas.openxmlformats.org/drawingml/2006/main">
            <a:r>
              <a:t>گزارش‌های حوزه: دستاورد، مانع و نظر مدیر</a:t>
            </a:r>
          </a:p>
          <a:p xmlns:a="http://schemas.openxmlformats.org/drawingml/2006/main">
            <a:r>
              <a:t>درخواست‌های تصمیم: سؤال واحد و پاسخ مدیریت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«نوع داده گزارش»، آزمایشی یا واقعی را انتخاب کنید.</a:t>
            </a:r>
          </a:p>
          <a:p xmlns:a="http://schemas.openxmlformats.org/drawingml/2006/main">
            <a:r>
              <a:t>هنگام تمرین، تیک «آزمایشی» فرم را فعال کنید.</a:t>
            </a:r>
          </a:p>
          <a:p xmlns:a="http://schemas.openxmlformats.org/drawingml/2006/main">
            <a:r>
              <a:t>اطلاعات کار واقعی را در بخش واقعی ثبت کنید.</a:t>
            </a:r>
          </a:p>
          <a:p xmlns:a="http://schemas.openxmlformats.org/drawingml/2006/main">
            <a:r>
              <a:t>تمرین را با تکمیل کارهای واقعی آینده انجام ندهید.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با حساب خود وارد صفحه پورتال شوید.</a:t>
            </a:r>
          </a:p>
          <a:p xmlns:a="http://schemas.openxmlformats.org/drawingml/2006/main">
            <a:r>
              <a:t>۲. «نمایش کارها» را روی «کارهای من» بگذارید.</a:t>
            </a:r>
          </a:p>
          <a:p xmlns:a="http://schemas.openxmlformats.org/drawingml/2006/main">
            <a:r>
              <a:t>۳. حوزه و بازه موعد شمسی را انتخاب کنید.</a:t>
            </a:r>
          </a:p>
          <a:p xmlns:a="http://schemas.openxmlformats.org/drawingml/2006/main">
            <a:r>
              <a:t>۴. «نمایش» را بزنید و عنوان و موعد کار را بخوانید.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مسئول انتخاب‌شده باید دسترسی ثبت در همان حوزه داشته باشد. کارهای خودکار از قالب هفتگی قبلاً ساخته شده‌اند و نباید دستی تکرار شوند. این فرم برای فعالیت تازه خارج از برنامه مناسب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مسیر ساده ثبت پیشرفت، مسئول همان اقدام و مدیر سامانه را مجاز می‌داند. مجوز حوزه در سرور نیز بررسی می‌شود. درصد پیشرفت یک کار با درصد موفقیت شاخص‌های عملکرد متفاوت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فقط پس از انجام واقعی کار، «انجام شد» را انتخاب کنید.</a:t>
            </a:r>
          </a:p>
          <a:p xmlns:a="http://schemas.openxmlformats.org/drawingml/2006/main">
            <a:r>
              <a:t>۲. نتیجه را روشن بنویسید: چه کاری و با چه نتیجه‌ای انجام شد؟</a:t>
            </a:r>
          </a:p>
          <a:p xmlns:a="http://schemas.openxmlformats.org/drawingml/2006/main">
            <a:r>
              <a:t>۳. پیشرفت به‌صورت خودکار به صددرصد می‌رسد.</a:t>
            </a:r>
          </a:p>
          <a:p xmlns:a="http://schemas.openxmlformats.org/drawingml/2006/main">
            <a:r>
              <a:t>۴. ذخیره کنید؛ زمان ثبت تکمیل در سرور ثبت می‌شود.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ملاک فعلی زمان ثبت تکمیل در سامانه و موعد حفظ‌شده هنگام تکمیل است. این وضعیت مستقل از هدف عددی شاخص‌هاست. اگر کار را دوباره باز کنید، تکمیل بعدی زمان جدید دارد و تاریخچه تغییرات حفظ می‌شود.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هر واحد پنج قالب هفتگی فعال، از شنبه تا چهارشنبه، دارد.</a:t>
            </a:r>
          </a:p>
          <a:p xmlns:a="http://schemas.openxmlformats.org/drawingml/2006/main">
            <a:r>
              <a:t>سامانه از قالب فعال، اقدام دارای مسئول و موعد می‌سازد.</a:t>
            </a:r>
          </a:p>
          <a:p xmlns:a="http://schemas.openxmlformats.org/drawingml/2006/main">
            <a:r>
              <a:t>پنجشنبه، جمعه و تعطیلات ثبت‌شده موعد خودکار کاری ندارند.</a:t>
            </a:r>
          </a:p>
          <a:p xmlns:a="http://schemas.openxmlformats.org/drawingml/2006/main">
            <a:r>
              <a:t>قالب‌های ماهانه فعلاً غیرفعال مانده‌اند.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کد روزهای هفته در تنظیمات فعلی: شنبه ۵، یکشنبه ۶، دوشنبه ۰، سه‌شنبه ۱ و چهارشنبه ۲. فعال‌سازی فقط پس از مرور مسئول و زمان‌بندی انجام شود. هیچ هدف عددی برای تکمیل قالب لازم نیست.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نمونه و کاربرد | مفهوم</a:t>
            </a:r>
          </a:p>
          <a:p xmlns:a="http://schemas.openxmlformats.org/drawingml/2006/main">
            <a:r>
              <a:t>«بررسی تیکت‌ها»؛ فعالیتی با مسئول و موعد | کار</a:t>
            </a:r>
          </a:p>
          <a:p xmlns:a="http://schemas.openxmlformats.org/drawingml/2006/main">
            <a:r>
              <a:t>«تیکت حل‌شده: ۳»؛ عدد ثبت‌شده در یک دوره | مقدار شاخص</a:t>
            </a:r>
          </a:p>
          <a:p xmlns:a="http://schemas.openxmlformats.org/drawingml/2006/main">
            <a:r>
              <a:t>معیار مورد انتظار مدیریت؛ فعلاً تعیین نشده است | هدف</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«ثبت و ویرایش مقدار شاخص» را در پورتال بزنید.</a:t>
            </a:r>
          </a:p>
          <a:p xmlns:a="http://schemas.openxmlformats.org/drawingml/2006/main">
            <a:r>
              <a:t>۲. در فهرست، «افزودن» را انتخاب کنید.</a:t>
            </a:r>
          </a:p>
          <a:p xmlns:a="http://schemas.openxmlformats.org/drawingml/2006/main">
            <a:r>
              <a:t>۳. حوزه و نام فارسی شاخص مصوب را انتخاب کنید.</a:t>
            </a:r>
          </a:p>
          <a:p xmlns:a="http://schemas.openxmlformats.org/drawingml/2006/main">
            <a:r>
              <a:t>۴. شروع و پایان دوره را با تقویم شمسی وارد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عدد ۳ صرفاً مثال آموزشی است. برای ثبت واقعی، عدد اندازه‌گیری‌شده و منبع قابل اتکا لازم است. زمان به‌روزرسانی منبع را در صورت اطلاع ثبت کنید. مسئول واحد اجازه تعریف شناسنامه یا تعیین هدف را ندارد.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چه زمانی انتخاب شود؟ | وضعیت داده</a:t>
            </a:r>
          </a:p>
          <a:p xmlns:a="http://schemas.openxmlformats.org/drawingml/2006/main">
            <a:r>
              <a:t>عدد بررسی شده و قابل اتکاست؛ ممکن است صفر باشد. | معتبر</a:t>
            </a:r>
          </a:p>
          <a:p xmlns:a="http://schemas.openxmlformats.org/drawingml/2006/main">
            <a:r>
              <a:t>عدد اولیه است و هنوز بررسی نهایی نشده است. | موقت</a:t>
            </a:r>
          </a:p>
          <a:p xmlns:a="http://schemas.openxmlformats.org/drawingml/2006/main">
            <a:r>
              <a:t>داده ندارید یا اندازه‌گیری انجام نشده است. | ناموجود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تقویم فرم‌ها و فیلترهای استاندارد Date و Datetime و DateRange شمسی است. تاریخ‌ها در پایگاه داده استاندارد باقی می‌مانند. تعطیلات رسمی خودکار حدس زده نمی‌شوند؛ مدیر باید آنها را در Portal Holiday ثبت کند. رنگ تعطیل، انتخاب دستی تاریخ رویداد را ممنوع نمی‌کند.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به صفحه اصلی پورتال برگردید.</a:t>
            </a:r>
          </a:p>
          <a:p xmlns:a="http://schemas.openxmlformats.org/drawingml/2006/main">
            <a:r>
              <a:t>۲. حوزه، نوع داده و بازه دوره را مطابق رکورد انتخاب کنید.</a:t>
            </a:r>
          </a:p>
          <a:p xmlns:a="http://schemas.openxmlformats.org/drawingml/2006/main">
            <a:r>
              <a:t>۳. «نمایش» را بزنید و بخش «نتایج شاخص‌ها» را ببینید.</a:t>
            </a:r>
          </a:p>
          <a:p xmlns:a="http://schemas.openxmlformats.org/drawingml/2006/main">
            <a:r>
              <a:t>۴. مقدار، اعتبار داده، منبع و زمان به‌روزرسانی را بررسی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«ثبت و بررسی گزارش» را باز و «افزودن» را بزنید.</a:t>
            </a:r>
          </a:p>
          <a:p xmlns:a="http://schemas.openxmlformats.org/drawingml/2006/main">
            <a:r>
              <a:t>۲. عنوان، حوزه و شروع و پایان دوره را وارد کنید.</a:t>
            </a:r>
          </a:p>
          <a:p xmlns:a="http://schemas.openxmlformats.org/drawingml/2006/main">
            <a:r>
              <a:t>۳. دستاوردها، موانع و برنامه بعد را بنویسید.</a:t>
            </a:r>
          </a:p>
          <a:p xmlns:a="http://schemas.openxmlformats.org/drawingml/2006/main">
            <a:r>
              <a:t>۴. برای تمرین «آزمایشی» را تیک بزنید؛ در پیش‌نویس ذخیره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تصویر شاخص‌ها از همان حوزه، بازه و نوع داده واقعی/آزمایشی گرفته می‌شود. اگر جدول خالی است، وجود مقدار شاخص در همان حوزه و محدوده را بررسی کنید. گزارش تأییدشده را برای گرفتن اطلاعات تازه دستکاری نکنید؛ اصلاحیه لازم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بالای فرم: دستاوردها، موانع و برنامه بعدِ مسئول واحد</a:t>
            </a:r>
          </a:p>
          <a:p xmlns:a="http://schemas.openxmlformats.org/drawingml/2006/main">
            <a:r>
              <a:t>جدول پایین: نام شاخص، مقدار، واحد و وضعیت اعتبار داده</a:t>
            </a:r>
          </a:p>
          <a:p xmlns:a="http://schemas.openxmlformats.org/drawingml/2006/main">
            <a:r>
              <a:t>ستون‌های هدف و ارزیابی: فعلاً هدف تعیین نشده است</a:t>
            </a:r>
          </a:p>
          <a:p xmlns:a="http://schemas.openxmlformats.org/drawingml/2006/main">
            <a:r>
              <a:t>منبع و زمان به‌روزرسانی: مبنای عدد گزارش‌شده</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مدیر با حساب جواد چنارانی گزارش ارسال‌شده را باز می‌کند.</a:t>
            </a:r>
          </a:p>
          <a:p xmlns:a="http://schemas.openxmlformats.org/drawingml/2006/main">
            <a:r>
              <a:t>۲. متن گزارش و جدول شاخص‌ها را می‌خواند.</a:t>
            </a:r>
          </a:p>
          <a:p xmlns:a="http://schemas.openxmlformats.org/drawingml/2006/main">
            <a:r>
              <a:t>۳. نظر خود را در «نظر مدیریت» ثبت می‌کند.</a:t>
            </a:r>
          </a:p>
          <a:p xmlns:a="http://schemas.openxmlformats.org/drawingml/2006/main">
            <a:r>
              <a:t>۴. «تأییدشده» یا «نیازمند اصلاح» را انتخاب و ذخیره 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«نیازمند اصلاح»، مسئول متن را اصلاح و دوباره ارسال می‌کند.</a:t>
            </a:r>
          </a:p>
          <a:p xmlns:a="http://schemas.openxmlformats.org/drawingml/2006/main">
            <a:r>
              <a:t>گزارش «تأییدشده» برای ویرایش مستقیم قفل است.</a:t>
            </a:r>
          </a:p>
          <a:p xmlns:a="http://schemas.openxmlformats.org/drawingml/2006/main">
            <a:r>
              <a:t>برای تغییر گزارش تأییدشده، یک گزارش اصلاحیه جدید بسازید.</a:t>
            </a:r>
          </a:p>
          <a:p xmlns:a="http://schemas.openxmlformats.org/drawingml/2006/main">
            <a:r>
              <a:t>در فیلد «اصلاحیه گزارش»، گزارش اصلی را انتخاب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با حساب مسئول، «درخواست و پاسخ تصمیم» را باز کنید.</a:t>
            </a:r>
          </a:p>
          <a:p xmlns:a="http://schemas.openxmlformats.org/drawingml/2006/main">
            <a:r>
              <a:t>۲. موضوع، حوزه و شرح درخواست را بنویسید.</a:t>
            </a:r>
          </a:p>
          <a:p xmlns:a="http://schemas.openxmlformats.org/drawingml/2006/main">
            <a:r>
              <a:t>۳. اگر زمان مشخصی لازم است، موعد تصمیم را ثبت کنید.</a:t>
            </a:r>
          </a:p>
          <a:p xmlns:a="http://schemas.openxmlformats.org/drawingml/2006/main">
            <a:r>
              <a:t>۴. برای تمرین «آزمایشی» را تیک بزنید و ذخیره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مدیر شرکت درخواست باز را باز می‌کند.</a:t>
            </a:r>
          </a:p>
          <a:p xmlns:a="http://schemas.openxmlformats.org/drawingml/2006/main">
            <a:r>
              <a:t>۲. تصمیم روشن را در «پاسخ مدیریت» می‌نویسد.</a:t>
            </a:r>
          </a:p>
          <a:p xmlns:a="http://schemas.openxmlformats.org/drawingml/2006/main">
            <a:r>
              <a:t>۳. ذخیره می‌کند؛ وضعیت خودکار «پاسخ داده شده» می‌شود.</a:t>
            </a:r>
          </a:p>
          <a:p xmlns:a="http://schemas.openxmlformats.org/drawingml/2006/main">
            <a:r>
              <a:t>۴. نام پاسخ‌دهنده و زمان پاسخ در سامانه ثبت می‌شوند.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بخش «گزارش حوزه‌ها و تصمیم مدیریت» را پیدا کنید.</a:t>
            </a:r>
          </a:p>
          <a:p xmlns:a="http://schemas.openxmlformats.org/drawingml/2006/main">
            <a:r>
              <a:t>گزارش‌ها و درخواست‌ها در دو قسمت جدا قرار دارند.</a:t>
            </a:r>
          </a:p>
          <a:p xmlns:a="http://schemas.openxmlformats.org/drawingml/2006/main">
            <a:r>
              <a:t>پاسخ و نظر مدیر در کادر رنگی مشخص است.</a:t>
            </a:r>
          </a:p>
          <a:p xmlns:a="http://schemas.openxmlformats.org/drawingml/2006/main">
            <a:r>
              <a:t>برای متن کامل و شاخص‌ها، «مشاهده جزئیات» را بزنید.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گزارش اقدامات، ابتدا حوزه و بازه را انتخاب کنید.</a:t>
            </a:r>
          </a:p>
          <a:p xmlns:a="http://schemas.openxmlformats.org/drawingml/2006/main">
            <a:r>
              <a:t>برای فایل قابل بازکردن در Excel، «خروجی CSV» را بزنید.</a:t>
            </a:r>
          </a:p>
          <a:p xmlns:a="http://schemas.openxmlformats.org/drawingml/2006/main">
            <a:r>
              <a:t>برای جلسه، «چاپ» را بزنید و پیش‌نمایش مرورگر را ببینید.</a:t>
            </a:r>
          </a:p>
          <a:p xmlns:a="http://schemas.openxmlformats.org/drawingml/2006/main">
            <a:r>
              <a:t>خروجی فعلی CSV مربوط به اقدامات نمایش‌داده‌شده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بخش برای کاربران مجاز است. شناسه منبع باید ثابت باشد تا تکرار داده کنترل شود. برای اقدام schedule_key، برای ورودی عملیاتی external_id و برای مقدار شاخص ترکیب شاخص و دوره استفاده می‌شود. کارمند نمی‌تواند از CSV برای تعیین هدف استفاده 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خالی‌بودن فهرست: حوزه، بازه و واقعی/آزمایشی را بررسی کنید.</a:t>
            </a:r>
          </a:p>
          <a:p xmlns:a="http://schemas.openxmlformats.org/drawingml/2006/main">
            <a:r>
              <a:t>نبود دکمه پیشرفت: مسئول همان کار و حساب ورود را بررسی کنید.</a:t>
            </a:r>
          </a:p>
          <a:p xmlns:a="http://schemas.openxmlformats.org/drawingml/2006/main">
            <a:r>
              <a:t>نبود دکمه تعریف شاخص: برای کارمند، محدودیت درست است.</a:t>
            </a:r>
          </a:p>
          <a:p xmlns:a="http://schemas.openxmlformats.org/drawingml/2006/main">
            <a:r>
              <a:t>قدیمی‌بودن ظاهر: پس از حفظ فرم، Ctrl + F5 بزنید.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اتصال زنده به سیستم‌های شرکت هنوز آماده نیست. مقدار شاخص‌ها دستی یا CSV است. نشانی localhost فقط روی میزبان توسعه قابل استفاده است؛ دسترسی همکاران از دستگاه‌های دیگر به آماده‌سازی شبکه یا استقرار سرور و بررسی منابع نیاز دارد.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یک کار آزمایشی را در حال انجام کنید و سپس با نتیجه تکمیل کنید.</a:t>
            </a:r>
          </a:p>
          <a:p xmlns:a="http://schemas.openxmlformats.org/drawingml/2006/main">
            <a:r>
              <a:t>مقدار آزمایشی «تیکت حل‌شده: ۳» را ثبت و در گزارش ببینید.</a:t>
            </a:r>
          </a:p>
          <a:p xmlns:a="http://schemas.openxmlformats.org/drawingml/2006/main">
            <a:r>
              <a:t>گزارش آزمایشی را ارسال و با حساب مدیر بررسی و تأیید کنید.</a:t>
            </a:r>
          </a:p>
          <a:p xmlns:a="http://schemas.openxmlformats.org/drawingml/2006/main">
            <a:r>
              <a:t>یک درخواست آزمایشی بسازید و پاسخ مدیر را در کارت مربوط ببینید.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323021a7d940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e7470ce84d46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24dcbcafb64d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a9cdd9fe1549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bc26e7d3b340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63395ae8ac47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CEDC8D-1DAE-423E-964A-783530F609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E54056-B36B-4E4A-9A45-BEFB96C3C7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EF527D-400F-4CEE-A46A-24C3C56FB0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D73B33-9C2D-4AC5-90D2-BD23DCCF39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42FD2-6535-4882-AB4D-19A7ED10E1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51044D-5D35-44B7-9B73-C20C1FF45B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8C5E06-5062-45E8-A5B6-C495F31065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3D1D6E-B7FF-43D3-95A5-DBD7FC9B57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C32782-FC7B-442F-B135-9F00BCB250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5FB647-0B72-4B92-80BE-65B91AA624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dc79a4b500441d" /><Relationship Type="http://schemas.openxmlformats.org/officeDocument/2006/relationships/slideLayout" Target="/ppt/slideLayouts/slideLayout1.xml" Id="Rf9807674fc1046e0" /><Relationship Type="http://schemas.openxmlformats.org/officeDocument/2006/relationships/slideLayout" Target="/ppt/slideLayouts/slideLayout2.xml" Id="R1b128b6f5236490c" /><Relationship Type="http://schemas.openxmlformats.org/officeDocument/2006/relationships/slideLayout" Target="/ppt/slideLayouts/slideLayout3.xml" Id="R457351902c4242eb" /><Relationship Type="http://schemas.openxmlformats.org/officeDocument/2006/relationships/slideLayout" Target="/ppt/slideLayouts/slideLayout4.xml" Id="Raec65de49a6b43d5" /><Relationship Type="http://schemas.openxmlformats.org/officeDocument/2006/relationships/slideLayout" Target="/ppt/slideLayouts/slideLayout5.xml" Id="R8b40116bcf9d42bf" /><Relationship Type="http://schemas.openxmlformats.org/officeDocument/2006/relationships/slideLayout" Target="/ppt/slideLayouts/slideLayout6.xml" Id="R80e59bca83bb49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807674fc1046e0"/>
    <p:sldLayoutId xmlns:r="http://schemas.openxmlformats.org/officeDocument/2006/relationships" id="2147483650" r:id="R1b128b6f5236490c"/>
    <p:sldLayoutId xmlns:r="http://schemas.openxmlformats.org/officeDocument/2006/relationships" id="2147483651" r:id="R457351902c4242eb"/>
    <p:sldLayoutId xmlns:r="http://schemas.openxmlformats.org/officeDocument/2006/relationships" id="2147483652" r:id="Raec65de49a6b43d5"/>
    <p:sldLayoutId xmlns:r="http://schemas.openxmlformats.org/officeDocument/2006/relationships" id="2147483653" r:id="R8b40116bcf9d42bf"/>
    <p:sldLayoutId xmlns:r="http://schemas.openxmlformats.org/officeDocument/2006/relationships" id="2147483654" r:id="R80e59bca83bb49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807d32344e4f80" /><Relationship Type="http://schemas.openxmlformats.org/officeDocument/2006/relationships/notesSlide" Target="/ppt/notesSlides/notesSlide1.xml" Id="Rc45cfb243f2a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1f24e1da164b4d" /><Relationship Type="http://schemas.openxmlformats.org/officeDocument/2006/relationships/notesSlide" Target="/ppt/notesSlides/notesSlide2.xml" Id="R7b64058acec348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e116247248459e" /><Relationship Type="http://schemas.openxmlformats.org/officeDocument/2006/relationships/notesSlide" Target="/ppt/notesSlides/notesSlide3.xml" Id="R540dbbe4196b42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95d79c65fe4a56" /><Relationship Type="http://schemas.openxmlformats.org/officeDocument/2006/relationships/hyperlink" Target="http://portal.localhost:8085/portal" TargetMode="External" Id="Ra22779719a3d4ab4" /><Relationship Type="http://schemas.openxmlformats.org/officeDocument/2006/relationships/notesSlide" Target="/ppt/notesSlides/notesSlide4.xml" Id="R766dc1463e144c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60a872b3524cc8" /><Relationship Type="http://schemas.openxmlformats.org/officeDocument/2006/relationships/notesSlide" Target="/ppt/notesSlides/notesSlide5.xml" Id="Rcf6946ab9c6348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87d7e748b04ab1" /><Relationship Type="http://schemas.openxmlformats.org/officeDocument/2006/relationships/notesSlide" Target="/ppt/notesSlides/notesSlide6.xml" Id="R0bb2f9bfa33b48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a28ce025a5426e" /><Relationship Type="http://schemas.openxmlformats.org/officeDocument/2006/relationships/hyperlink" Target="http://portal.localhost:8085/portal" TargetMode="External" Id="Re3fdc85ceaa34868" /><Relationship Type="http://schemas.openxmlformats.org/officeDocument/2006/relationships/notesSlide" Target="/ppt/notesSlides/notesSlide7.xml" Id="Rcf5f5be7e8f04b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37b631a6f44f9d" /><Relationship Type="http://schemas.openxmlformats.org/officeDocument/2006/relationships/notesSlide" Target="/ppt/notesSlides/notesSlide8.xml" Id="Rdacdac47ba7d4b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5aa563de7045a0" /><Relationship Type="http://schemas.openxmlformats.org/officeDocument/2006/relationships/notesSlide" Target="/ppt/notesSlides/notesSlide9.xml" Id="Rd6b8ad722b9148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ee09d982c448f4" /><Relationship Type="http://schemas.openxmlformats.org/officeDocument/2006/relationships/notesSlide" Target="/ppt/notesSlides/notesSlide10.xml" Id="R6d13fe0b325641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98c775e04e4051" /><Relationship Type="http://schemas.openxmlformats.org/officeDocument/2006/relationships/notesSlide" Target="/ppt/notesSlides/notesSlide11.xml" Id="R5ace775e24be40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02340175ace4629" /><Relationship Type="http://schemas.openxmlformats.org/officeDocument/2006/relationships/hyperlink" Target="http://portal.localhost:8085/app/portal-template" TargetMode="External" Id="R9d25edbb944041fd" /><Relationship Type="http://schemas.openxmlformats.org/officeDocument/2006/relationships/notesSlide" Target="/ppt/notesSlides/notesSlide12.xml" Id="R33200f79a58447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11692630594d29" /><Relationship Type="http://schemas.openxmlformats.org/officeDocument/2006/relationships/notesSlide" Target="/ppt/notesSlides/notesSlide13.xml" Id="R8bb809a1b11847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8717a6dc1746ea" /><Relationship Type="http://schemas.openxmlformats.org/officeDocument/2006/relationships/notesSlide" Target="/ppt/notesSlides/notesSlide14.xml" Id="Rc9f61b3016e34a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23e02d452a4977" /><Relationship Type="http://schemas.openxmlformats.org/officeDocument/2006/relationships/hyperlink" Target="http://portal.localhost:8085/app/portal-metric-value" TargetMode="External" Id="Re6d8bab5fa484272" /><Relationship Type="http://schemas.openxmlformats.org/officeDocument/2006/relationships/notesSlide" Target="/ppt/notesSlides/notesSlide15.xml" Id="Rfda0c59864404b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280050d420443bb" /><Relationship Type="http://schemas.openxmlformats.org/officeDocument/2006/relationships/notesSlide" Target="/ppt/notesSlides/notesSlide16.xml" Id="R722614837b4848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68966156c9048fc" /><Relationship Type="http://schemas.openxmlformats.org/officeDocument/2006/relationships/notesSlide" Target="/ppt/notesSlides/notesSlide17.xml" Id="R9adeaa0dbe544e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94e124154574b45" /><Relationship Type="http://schemas.openxmlformats.org/officeDocument/2006/relationships/notesSlide" Target="/ppt/notesSlides/notesSlide18.xml" Id="R0b822984de554d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84b0497de0e4a26" /><Relationship Type="http://schemas.openxmlformats.org/officeDocument/2006/relationships/notesSlide" Target="/ppt/notesSlides/notesSlide19.xml" Id="Rbe9009a480ee42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86d5d8b92cb4435" /><Relationship Type="http://schemas.openxmlformats.org/officeDocument/2006/relationships/hyperlink" Target="http://portal.localhost:8085/app/portal-report" TargetMode="External" Id="R1e532615f5924a7d" /><Relationship Type="http://schemas.openxmlformats.org/officeDocument/2006/relationships/notesSlide" Target="/ppt/notesSlides/notesSlide20.xml" Id="R5867aece168947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1bfdd389c4c44c6" /><Relationship Type="http://schemas.openxmlformats.org/officeDocument/2006/relationships/notesSlide" Target="/ppt/notesSlides/notesSlide21.xml" Id="Rb141b566c6fd42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382c139192e45b2" /><Relationship Type="http://schemas.openxmlformats.org/officeDocument/2006/relationships/notesSlide" Target="/ppt/notesSlides/notesSlide22.xml" Id="Rcd857802f07f4c8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019ac83d4c845ff" /><Relationship Type="http://schemas.openxmlformats.org/officeDocument/2006/relationships/notesSlide" Target="/ppt/notesSlides/notesSlide23.xml" Id="R8885ae3a6abd4c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99281b70f26485d" /><Relationship Type="http://schemas.openxmlformats.org/officeDocument/2006/relationships/notesSlide" Target="/ppt/notesSlides/notesSlide24.xml" Id="R8007cd2e2e0e46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349562a479f42cd" /><Relationship Type="http://schemas.openxmlformats.org/officeDocument/2006/relationships/hyperlink" Target="http://portal.localhost:8085/app/portal-decision" TargetMode="External" Id="R0ae542f6c6cf4634" /><Relationship Type="http://schemas.openxmlformats.org/officeDocument/2006/relationships/notesSlide" Target="/ppt/notesSlides/notesSlide25.xml" Id="Rec0e9f6284fb499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1eba0e7e1546ec" /><Relationship Type="http://schemas.openxmlformats.org/officeDocument/2006/relationships/notesSlide" Target="/ppt/notesSlides/notesSlide26.xml" Id="R0c4255f25af34be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2f1b323df824bf3" /><Relationship Type="http://schemas.openxmlformats.org/officeDocument/2006/relationships/notesSlide" Target="/ppt/notesSlides/notesSlide27.xml" Id="R1a6376749b4e4a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9f67a474394899" /><Relationship Type="http://schemas.openxmlformats.org/officeDocument/2006/relationships/notesSlide" Target="/ppt/notesSlides/notesSlide28.xml" Id="R4f57d952a96942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21c4900ecd40c4" /><Relationship Type="http://schemas.openxmlformats.org/officeDocument/2006/relationships/hyperlink" Target="http://portal.localhost:8085/portal-import" TargetMode="External" Id="R16d1eea537e346c8" /><Relationship Type="http://schemas.openxmlformats.org/officeDocument/2006/relationships/notesSlide" Target="/ppt/notesSlides/notesSlide29.xml" Id="Ref192f2af6454b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3c7949eb3b24360" /><Relationship Type="http://schemas.openxmlformats.org/officeDocument/2006/relationships/notesSlide" Target="/ppt/notesSlides/notesSlide30.xml" Id="R35fc90494e7f4a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c9e3e2b301c4943" /><Relationship Type="http://schemas.openxmlformats.org/officeDocument/2006/relationships/notesSlide" Target="/ppt/notesSlides/notesSlide31.xml" Id="R75ba731b460647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8c2360a960f45a8" /><Relationship Type="http://schemas.openxmlformats.org/officeDocument/2006/relationships/notesSlide" Target="/ppt/notesSlides/notesSlide32.xml" Id="R1ddcb43a2cc04fa6"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63849"/>
        </a:solidFill>
      </p:bgPr>
    </p:bg>
    <p:spTree>
      <p:nvGrpSpPr>
        <p:cNvPr id="1" name=""/>
        <p:cNvGrpSpPr/>
        <p:nvPr/>
      </p:nvGrpSpPr>
      <p:grpSpPr>
        <a:xfrm/>
      </p:grpSpPr>
      <p:sp>
        <p:nvSpPr>
          <p:cNvPr id="5" name="">
            <a:extLst>
              <a:ext uri="{FF2B5EF4-FFF2-40B4-BE49-F238E27FC236}">
                <ns2:creationId id="{96DB62CB-4563-4004-8D56-CB385125F4E6}"/>
              </a:ext>
            </a:extLst>
          </p:cNvPr>
          <p:cNvSpPr>
            <a:spLocks noGrp="1"/>
          </p:cNvSpPr>
          <p:nvPr/>
        </p:nvSpPr>
        <p:spPr>
          <a:xfrm>
            <a:off x="857250" y="1381125"/>
            <a:ext cx="10477500" cy="1047750"/>
          </a:xfrm>
          <a:prstGeom prst="rect">
            <a:avLst/>
          </a:prstGeom>
          <a:noFill/>
          <a:ln w="0">
            <a:noFill/>
          </a:ln>
        </p:spPr>
        <p:txBody>
          <a:bodyPr wrap="square" lIns="0" tIns="0" rIns="0" bIns="0" anchor="t">
            <a:noAutofit/>
          </a:bodyPr>
          <a:lstStyle>
            <a:defPPr algn="r">
              <a:defRPr sz="4500" b="1">
                <a:solidFill>
                  <a:srgbClr val="FFFFFF"/>
                </a:solidFill>
                <a:latin typeface="Arial"/>
                <a:ea typeface="Arial"/>
                <a:cs typeface="Arial"/>
              </a:defRPr>
            </a:defPPr>
          </a:lstStyle>
          <a:p>
            <a:pPr algn="r" rtl="1">
              <a:defRPr sz="4500" b="1">
                <a:solidFill>
                  <a:srgbClr val="FFFFFF"/>
                </a:solidFill>
                <a:latin typeface="Arial"/>
                <a:ea typeface="Arial"/>
                <a:cs typeface="Arial"/>
              </a:defRPr>
            </a:pPr>
            <a:r>
              <a:rPr sz="4500" b="1" lang="fa-IR">
                <a:solidFill>
                  <a:srgbClr val="FFFFFF"/>
                </a:solidFill>
                <a:latin typeface="Arial"/>
                <a:ea typeface="Arial"/>
                <a:cs typeface="Arial"/>
              </a:rPr>
              <a:t>‏آموزش پورتال داخلی</a:t>
            </a:r>
          </a:p>
        </p:txBody>
      </p:sp>
      <p:sp>
        <p:nvSpPr>
          <p:cNvPr id="2" name="">
            <a:extLst>
              <a:ext uri="{FF2B5EF4-FFF2-40B4-BE49-F238E27FC236}">
                <ns2:creationId id="{6C614108-0CB7-4005-93ED-0D573CA4D0F1}"/>
              </a:ext>
            </a:extLst>
          </p:cNvPr>
          <p:cNvSpPr>
            <a:spLocks noGrp="1"/>
          </p:cNvSpPr>
          <p:nvPr/>
        </p:nvSpPr>
        <p:spPr>
          <a:xfrm>
            <a:off x="857250" y="2667000"/>
            <a:ext cx="10477500" cy="704850"/>
          </a:xfrm>
          <a:prstGeom prst="rect">
            <a:avLst/>
          </a:prstGeom>
          <a:noFill/>
          <a:ln w="0">
            <a:noFill/>
          </a:ln>
        </p:spPr>
        <p:txBody>
          <a:bodyPr wrap="square" lIns="0" tIns="0" rIns="0" bIns="0" anchor="t">
            <a:noAutofit/>
          </a:bodyPr>
          <a:lstStyle>
            <a:defPPr algn="r">
              <a:defRPr sz="2925" b="0">
                <a:solidFill>
                  <a:srgbClr val="FFFFFF"/>
                </a:solidFill>
                <a:latin typeface="Arial"/>
                <a:ea typeface="Arial"/>
                <a:cs typeface="Arial"/>
              </a:defRPr>
            </a:defPPr>
          </a:lstStyle>
          <a:p>
            <a:pPr algn="r" rtl="1">
              <a:defRPr sz="2925" b="0">
                <a:solidFill>
                  <a:srgbClr val="FFFFFF"/>
                </a:solidFill>
                <a:latin typeface="Arial"/>
                <a:ea typeface="Arial"/>
                <a:cs typeface="Arial"/>
              </a:defRPr>
            </a:pPr>
            <a:r>
              <a:rPr sz="2925" b="0" lang="fa-IR">
                <a:solidFill>
                  <a:srgbClr val="FFFFFF"/>
                </a:solidFill>
                <a:latin typeface="Arial"/>
                <a:ea typeface="Arial"/>
                <a:cs typeface="Arial"/>
              </a:rPr>
              <a:t>‏جوش و برش صائین آریا</a:t>
            </a:r>
          </a:p>
        </p:txBody>
      </p:sp>
      <p:sp>
        <p:nvSpPr>
          <p:cNvPr id="3" name="">
            <a:extLst>
              <a:ext uri="{FF2B5EF4-FFF2-40B4-BE49-F238E27FC236}">
                <ns2:creationId id="{36BFE7E9-DD28-429B-9C29-93A79D01AC25}"/>
              </a:ext>
            </a:extLst>
          </p:cNvPr>
          <p:cNvSpPr>
            <a:spLocks noGrp="1"/>
          </p:cNvSpPr>
          <p:nvPr/>
        </p:nvSpPr>
        <p:spPr>
          <a:xfrm>
            <a:off x="857250" y="3619500"/>
            <a:ext cx="10477500" cy="666750"/>
          </a:xfrm>
          <a:prstGeom prst="rect">
            <a:avLst/>
          </a:prstGeom>
          <a:noFill/>
          <a:ln w="0">
            <a:noFill/>
          </a:ln>
        </p:spPr>
        <p:txBody>
          <a:bodyPr wrap="square" lIns="0" tIns="0" rIns="0" bIns="0" anchor="t">
            <a:noAutofit/>
          </a:bodyPr>
          <a:lstStyle>
            <a:defPPr algn="r">
              <a:defRPr sz="2250" b="0">
                <a:solidFill>
                  <a:srgbClr val="BFD5DE"/>
                </a:solidFill>
                <a:latin typeface="Arial"/>
                <a:ea typeface="Arial"/>
                <a:cs typeface="Arial"/>
              </a:defRPr>
            </a:defPPr>
          </a:lstStyle>
          <a:p>
            <a:pPr algn="r" rtl="1">
              <a:defRPr sz="2250" b="0">
                <a:solidFill>
                  <a:srgbClr val="BFD5DE"/>
                </a:solidFill>
                <a:latin typeface="Arial"/>
                <a:ea typeface="Arial"/>
                <a:cs typeface="Arial"/>
              </a:defRPr>
            </a:pPr>
            <a:r>
              <a:rPr sz="2250" b="0" lang="fa-IR">
                <a:solidFill>
                  <a:srgbClr val="BFD5DE"/>
                </a:solidFill>
                <a:latin typeface="Arial"/>
                <a:ea typeface="Arial"/>
                <a:cs typeface="Arial"/>
              </a:rPr>
              <a:t>‏راهنمای مرحله‌به‌مرحله کارکنان و مدیریت</a:t>
            </a:r>
          </a:p>
        </p:txBody>
      </p:sp>
      <p:sp>
        <p:nvSpPr>
          <p:cNvPr id="4" name="">
            <a:extLst>
              <a:ext uri="{FF2B5EF4-FFF2-40B4-BE49-F238E27FC236}">
                <ns2:creationId id="{F486976D-74A9-461E-8468-7039763A80BD}"/>
              </a:ext>
            </a:extLst>
          </p:cNvPr>
          <p:cNvSpPr>
            <a:spLocks noGrp="1"/>
          </p:cNvSpPr>
          <p:nvPr/>
        </p:nvSpPr>
        <p:spPr>
          <a:xfrm>
            <a:off x="857250" y="5381625"/>
            <a:ext cx="10477500" cy="381000"/>
          </a:xfrm>
          <a:prstGeom prst="rect">
            <a:avLst/>
          </a:prstGeom>
          <a:noFill/>
          <a:ln w="0">
            <a:noFill/>
          </a:ln>
        </p:spPr>
        <p:txBody>
          <a:bodyPr wrap="square" lIns="0" tIns="0" rIns="0" bIns="0" anchor="t">
            <a:noAutofit/>
          </a:bodyPr>
          <a:lstStyle>
            <a:defPPr algn="r">
              <a:defRPr sz="1575" b="0">
                <a:solidFill>
                  <a:srgbClr val="BFD5DE"/>
                </a:solidFill>
                <a:latin typeface="Arial"/>
                <a:ea typeface="Arial"/>
                <a:cs typeface="Arial"/>
              </a:defRPr>
            </a:defPPr>
          </a:lstStyle>
          <a:p>
            <a:pPr algn="r" rtl="1">
              <a:defRPr sz="1575" b="0">
                <a:solidFill>
                  <a:srgbClr val="BFD5DE"/>
                </a:solidFill>
                <a:latin typeface="Arial"/>
                <a:ea typeface="Arial"/>
                <a:cs typeface="Arial"/>
              </a:defRPr>
            </a:pPr>
            <a:r>
              <a:rPr sz="1575" b="0" lang="fa-IR">
                <a:solidFill>
                  <a:srgbClr val="BFD5DE"/>
                </a:solidFill>
                <a:latin typeface="Arial"/>
                <a:ea typeface="Arial"/>
                <a:cs typeface="Arial"/>
              </a:rPr>
              <a:t>‏نسخه محلی • ۲۲ مهر ۱۴۰۵</a:t>
            </a:r>
          </a:p>
        </p:txBody>
      </p:sp>
    </p:spTree>
    <p:extLst>
      <p:ext uri="{BB962C8B-B14F-4D97-AF65-F5344CB8AC3E}">
        <ns3:creationId val="290418409"/>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2EAF361B-43B3-4113-8699-8407A3958A8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‏مسیر آموزش</a:t>
            </a:r>
          </a:p>
        </p:txBody>
      </p:sp>
      <p:sp>
        <p:nvSpPr>
          <p:cNvPr id="2" name="">
            <a:extLst>
              <a:ext uri="{FF2B5EF4-FFF2-40B4-BE49-F238E27FC236}">
                <ns2:creationId id="{227C5865-D1E9-42E7-AFB6-5DF2D01792A6}"/>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ورود و پیدا کردن کارهای خود</a:t>
            </a:r>
          </a:p>
        </p:txBody>
      </p:sp>
      <p:sp>
        <p:nvSpPr>
          <p:cNvPr id="3" name="">
            <a:extLst>
              <a:ext uri="{FF2B5EF4-FFF2-40B4-BE49-F238E27FC236}">
                <ns2:creationId id="{DABEA776-6FA2-45A9-B40C-428DDBB25EB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ثبت پیشرفت، نتیجه و انجام در موعد</a:t>
            </a:r>
          </a:p>
        </p:txBody>
      </p:sp>
      <p:sp>
        <p:nvSpPr>
          <p:cNvPr id="4" name="">
            <a:extLst>
              <a:ext uri="{FF2B5EF4-FFF2-40B4-BE49-F238E27FC236}">
                <ns2:creationId id="{59178937-89D5-484B-8BC0-BA09FDE866C9}"/>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ثبت مقدار شاخص، بدون تعیین هدف</a:t>
            </a:r>
          </a:p>
        </p:txBody>
      </p:sp>
      <p:sp>
        <p:nvSpPr>
          <p:cNvPr id="5" name="">
            <a:extLst>
              <a:ext uri="{FF2B5EF4-FFF2-40B4-BE49-F238E27FC236}">
                <ns2:creationId id="{912636DC-BED1-4087-A87E-42CC3A09A27F}"/>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ارسال گزارش، بررسی مدیر و درخواست تصمیم</a:t>
            </a:r>
          </a:p>
        </p:txBody>
      </p:sp>
      <p:sp>
        <p:nvSpPr>
          <p:cNvPr id="6" name="">
            <a:extLst>
              <a:ext uri="{FF2B5EF4-FFF2-40B4-BE49-F238E27FC236}">
                <ns2:creationId id="{CC0F8B3D-B790-4F83-A963-A34345535755}"/>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‏هر مرحله را ابتدا با داده آزمایشی تمرین کنید.</a:t>
            </a:r>
          </a:p>
        </p:txBody>
      </p:sp>
      <p:sp>
        <p:nvSpPr>
          <p:cNvPr id="7" name="">
            <a:extLst>
              <a:ext uri="{FF2B5EF4-FFF2-40B4-BE49-F238E27FC236}">
                <ns2:creationId id="{65A1C7FE-4D4F-44ED-908F-799BAE3FB900}"/>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a:t>
            </a:r>
          </a:p>
        </p:txBody>
      </p:sp>
    </p:spTree>
    <p:extLst>
      <p:ext uri="{BB962C8B-B14F-4D97-AF65-F5344CB8AC3E}">
        <ns3:creationId val="94725006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69897E3A-ABE0-406A-AA6A-ED4D7ECD1417}"/>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‏مسئولیت کاربران</a:t>
            </a:r>
          </a:p>
        </p:txBody>
      </p:sp>
      <p:graphicFrame>
        <p:nvGraphicFramePr>
          <p:cNvPr id="2" name="">
            <a:extLst>
              <a:ext uri="{FF2B5EF4-FFF2-40B4-BE49-F238E27FC236}">
                <ns2:creationId id="{0E0EEB68-E167-47E4-AF65-6506F902BC65}"/>
              </a:ext>
            </a:extLst>
          </p:cNvPr>
          <p:cNvGraphicFramePr/>
          <p:nvPr/>
        </p:nvGraphicFramePr>
        <p:xfrm>
          <a:off x="685800" y="1581150"/>
          <a:ext cx="10820400" cy="3333750"/>
        </p:xfrm>
        <a:graphic>
          <a:graphicData uri="http://schemas.openxmlformats.org/drawingml/2006/table">
            <a:tbl>
              <a:tblPr/>
              <a:tblGrid>
                <a:gridCol w="5143500"/>
                <a:gridCol w="3048000"/>
                <a:gridCol w="2628900"/>
              </a:tblGrid>
              <a:tr h="833438">
                <a:tc>
                  <a:txBody>
                    <a:bodyPr lIns="133350" tIns="133350" rIns="133350" bIns="133350"/>
                    <a:lstStyle/>
                    <a:p>
                      <a:pPr algn="r" rtl="1"/>
                      <a:r>
                        <a:rPr sz="1875" b="1" lang="fa-IR">
                          <a:solidFill>
                            <a:srgbClr val="FFFFFF"/>
                          </a:solidFill>
                          <a:latin typeface="Arial"/>
                          <a:ea typeface="Arial"/>
                          <a:cs typeface="Arial"/>
                        </a:rPr>
                        <a:t>اختیار اصلی</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حوزه</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کاربر</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بررسی همه حوزه‌ها و پاسخ مدیریتی</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همه واحدها</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جواد چنارانی</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ثبت و پیگیری اطلاعات حوزه</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موجودی + فناوری اطلاعات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علیرضا کاظمی</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ثبت و پیگیری اطلاعات حوزه</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بازاریابی و مهندسی فروش</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رابعه خانبابایی</a:t>
                      </a:r>
                    </a:p>
                  </a:txBody>
                  <a:tcPr marL="91440" marR="91440" marT="45720" marB="45720" anchor="ctr">
                    <a:solidFill>
                      <a:srgbClr val="EDF4F6"/>
                    </a:solidFill>
                  </a:tcPr>
                </a:tc>
              </a:tr>
            </a:tbl>
          </a:graphicData>
        </a:graphic>
      </p:graphicFrame>
      <p:sp>
        <p:nvSpPr>
          <p:cNvPr id="3" name="">
            <a:extLst>
              <a:ext uri="{FF2B5EF4-FFF2-40B4-BE49-F238E27FC236}">
                <ns2:creationId id="{8CE2AF3C-3B00-454F-86F3-F74FCDE19BD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‏تعریف شاخص، فرمول، هدف و آستانه در اختیار مدیریت است.</a:t>
            </a:r>
          </a:p>
        </p:txBody>
      </p:sp>
      <p:sp>
        <p:nvSpPr>
          <p:cNvPr id="4" name="">
            <a:extLst>
              <a:ext uri="{FF2B5EF4-FFF2-40B4-BE49-F238E27FC236}">
                <ns2:creationId id="{0C2E7110-D0CC-42CC-A668-4E364AF164B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a:t>
            </a:r>
          </a:p>
        </p:txBody>
      </p:sp>
    </p:spTree>
    <p:extLst>
      <p:ext uri="{BB962C8B-B14F-4D97-AF65-F5344CB8AC3E}">
        <ns3:creationId val="44855895"/>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75C096CB-B6D5-49B6-AF96-38E992C8851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‏ورود به سامانه</a:t>
            </a:r>
          </a:p>
        </p:txBody>
      </p:sp>
      <p:sp>
        <p:nvSpPr>
          <p:cNvPr id="2" name="">
            <a:extLst>
              <a:ext uri="{FF2B5EF4-FFF2-40B4-BE49-F238E27FC236}">
                <ns2:creationId id="{0AB86D1B-0AC6-4514-8826-BB61A9416181}"/>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نشانی پورتال را در مرورگر باز کنید.</a:t>
            </a:r>
          </a:p>
        </p:txBody>
      </p:sp>
      <p:sp>
        <p:nvSpPr>
          <p:cNvPr id="3" name="">
            <a:extLst>
              <a:ext uri="{FF2B5EF4-FFF2-40B4-BE49-F238E27FC236}">
                <ns2:creationId id="{D4C5B493-6C53-49A2-8BD1-5FD15C57553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ایمیل حساب اختصاصی خود و رمز را وارد کنید.</a:t>
            </a:r>
          </a:p>
        </p:txBody>
      </p:sp>
      <p:sp>
        <p:nvSpPr>
          <p:cNvPr id="4" name="">
            <a:extLst>
              <a:ext uri="{FF2B5EF4-FFF2-40B4-BE49-F238E27FC236}">
                <ns2:creationId id="{FD202BA3-E57D-4727-A110-C54A629949AF}"/>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پس از ورود، صفحه اصلی پورتال را باز کنید.</a:t>
            </a:r>
          </a:p>
        </p:txBody>
      </p:sp>
      <p:sp>
        <p:nvSpPr>
          <p:cNvPr id="5" name="">
            <a:extLst>
              <a:ext uri="{FF2B5EF4-FFF2-40B4-BE49-F238E27FC236}">
                <ns2:creationId id="{B4967938-CE16-4CD4-9375-B02D093712EE}"/>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کار روزمره از حساب شخصی استفاده کنید.</a:t>
            </a:r>
          </a:p>
        </p:txBody>
      </p:sp>
      <p:sp>
        <p:nvSpPr>
          <p:cNvPr id="6" name="">
            <a:extLst>
              <a:ext uri="{FF2B5EF4-FFF2-40B4-BE49-F238E27FC236}">
                <ns2:creationId id="{D575F2FF-242D-44DB-A033-C32663F9DE54}"/>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a22779719a3d4ab4"/>
              </a:rPr>
              <a:t>http://portal.localhost:8085/portal</a:t>
            </a:r>
          </a:p>
        </p:txBody>
      </p:sp>
      <p:sp>
        <p:nvSpPr>
          <p:cNvPr id="7" name="">
            <a:extLst>
              <a:ext uri="{FF2B5EF4-FFF2-40B4-BE49-F238E27FC236}">
                <ns2:creationId id="{2B973AB6-1AFF-49B0-9C23-DF48D443F0D1}"/>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‏‎Administrator‎ حساب مدیریت فنی است؛ رمزها را در گفتگو یا گزارش ننویسید.</a:t>
            </a:r>
          </a:p>
        </p:txBody>
      </p:sp>
      <p:sp>
        <p:nvSpPr>
          <p:cNvPr id="8" name="">
            <a:extLst>
              <a:ext uri="{FF2B5EF4-FFF2-40B4-BE49-F238E27FC236}">
                <ns2:creationId id="{4B62FBDF-EF33-408E-90FC-095B38217C6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‏۴</a:t>
            </a:r>
          </a:p>
        </p:txBody>
      </p:sp>
    </p:spTree>
    <p:extLst>
      <p:ext uri="{BB962C8B-B14F-4D97-AF65-F5344CB8AC3E}">
        <ns4:creationId val="811310868"/>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B15F1C7F-D267-481C-9643-EEAE01482965}"/>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‏بخش‌های صفحه اصلی</a:t>
            </a:r>
          </a:p>
        </p:txBody>
      </p:sp>
      <p:sp>
        <p:nvSpPr>
          <p:cNvPr id="2" name="">
            <a:extLst>
              <a:ext uri="{FF2B5EF4-FFF2-40B4-BE49-F238E27FC236}">
                <ns2:creationId id="{8F4F24AD-E7DA-4B50-A3FE-38EFFE6A40EB}"/>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‏کارها و ثبت پیشرفت: فعالیت‌ها و موعدهای شما</a:t>
            </a:r>
          </a:p>
        </p:txBody>
      </p:sp>
      <p:sp>
        <p:nvSpPr>
          <p:cNvPr id="3" name="">
            <a:extLst>
              <a:ext uri="{FF2B5EF4-FFF2-40B4-BE49-F238E27FC236}">
                <ns2:creationId id="{EE707DD8-7923-4F59-8797-7FA05E2EAE76}"/>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‏نتایج شاخص‌ها: عددهای ثبت‌شده برای هر دوره</a:t>
            </a:r>
          </a:p>
        </p:txBody>
      </p:sp>
      <p:sp>
        <p:nvSpPr>
          <p:cNvPr id="4" name="">
            <a:extLst>
              <a:ext uri="{FF2B5EF4-FFF2-40B4-BE49-F238E27FC236}">
                <ns2:creationId id="{3746859D-4C50-4B51-BB3C-60EF762E565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‏گزارش‌های حوزه: دستاورد، مانع و نظر مدیر</a:t>
            </a:r>
          </a:p>
        </p:txBody>
      </p:sp>
      <p:sp>
        <p:nvSpPr>
          <p:cNvPr id="5" name="">
            <a:extLst>
              <a:ext uri="{FF2B5EF4-FFF2-40B4-BE49-F238E27FC236}">
                <ns2:creationId id="{D6D971CB-804B-4953-96B0-3F047DA2764F}"/>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‏درخواست‌های تصمیم: سؤال واحد و پاسخ مدیریت</a:t>
            </a:r>
          </a:p>
        </p:txBody>
      </p:sp>
      <p:sp>
        <p:nvSpPr>
          <p:cNvPr id="6" name="">
            <a:extLst>
              <a:ext uri="{FF2B5EF4-FFF2-40B4-BE49-F238E27FC236}">
                <ns2:creationId id="{D23BA2DA-B39C-48EC-8DD5-BB69A517006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دیدن نتیجه فیلترها، دکمه «نمایش» را بزنید.</a:t>
            </a:r>
          </a:p>
        </p:txBody>
      </p:sp>
      <p:sp>
        <p:nvSpPr>
          <p:cNvPr id="7" name="">
            <a:extLst>
              <a:ext uri="{FF2B5EF4-FFF2-40B4-BE49-F238E27FC236}">
                <ns2:creationId id="{6C2F98A6-1076-4E19-9558-5DB5F07AE5B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‏۵</a:t>
            </a:r>
          </a:p>
        </p:txBody>
      </p:sp>
    </p:spTree>
    <p:extLst>
      <p:ext uri="{BB962C8B-B14F-4D97-AF65-F5344CB8AC3E}">
        <ns3:creationId val="1614516900"/>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958A214A-D45C-44BD-BEE8-7EA3FB85645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‏تفکیک داده آزمایشی و واقعی</a:t>
            </a:r>
          </a:p>
        </p:txBody>
      </p:sp>
      <p:sp>
        <p:nvSpPr>
          <p:cNvPr id="2" name="">
            <a:extLst>
              <a:ext uri="{FF2B5EF4-FFF2-40B4-BE49-F238E27FC236}">
                <ns2:creationId id="{26B7C1B2-DCB3-4F67-BC7E-D7F58BEE215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«نوع داده گزارش»، آزمایشی یا واقعی را انتخاب کنید.</a:t>
            </a:r>
          </a:p>
        </p:txBody>
      </p:sp>
      <p:sp>
        <p:nvSpPr>
          <p:cNvPr id="3" name="">
            <a:extLst>
              <a:ext uri="{FF2B5EF4-FFF2-40B4-BE49-F238E27FC236}">
                <ns2:creationId id="{B0779377-1EB6-4AD6-82A6-226AC50ED80A}"/>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‏هنگام تمرین، تیک «آزمایشی» فرم را فعال کنید.</a:t>
            </a:r>
          </a:p>
        </p:txBody>
      </p:sp>
      <p:sp>
        <p:nvSpPr>
          <p:cNvPr id="4" name="">
            <a:extLst>
              <a:ext uri="{FF2B5EF4-FFF2-40B4-BE49-F238E27FC236}">
                <ns2:creationId id="{290D2FE2-A24B-4680-BCDB-5BE9E9E9A53B}"/>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‏اطلاعات کار واقعی را در بخش واقعی ثبت کنید.</a:t>
            </a:r>
          </a:p>
        </p:txBody>
      </p:sp>
      <p:sp>
        <p:nvSpPr>
          <p:cNvPr id="5" name="">
            <a:extLst>
              <a:ext uri="{FF2B5EF4-FFF2-40B4-BE49-F238E27FC236}">
                <ns2:creationId id="{A5DAF80B-059D-4FBF-8C42-4E2DF4BCC149}"/>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‏تمرین را با تکمیل کارهای واقعی آینده انجام ندهید.</a:t>
            </a:r>
          </a:p>
        </p:txBody>
      </p:sp>
      <p:sp>
        <p:nvSpPr>
          <p:cNvPr id="6" name="">
            <a:extLst>
              <a:ext uri="{FF2B5EF4-FFF2-40B4-BE49-F238E27FC236}">
                <ns2:creationId id="{DA29B280-A601-4FAE-9E4D-25A700FA5118}"/>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تیکت حل‌شده با مقدار ۳، فقط داده آموزشی است.</a:t>
            </a:r>
          </a:p>
        </p:txBody>
      </p:sp>
      <p:sp>
        <p:nvSpPr>
          <p:cNvPr id="7" name="">
            <a:extLst>
              <a:ext uri="{FF2B5EF4-FFF2-40B4-BE49-F238E27FC236}">
                <ns2:creationId id="{54BBB949-B945-4D5F-AB45-413415A5D5A7}"/>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‏۶</a:t>
            </a:r>
          </a:p>
        </p:txBody>
      </p:sp>
    </p:spTree>
    <p:extLst>
      <p:ext uri="{BB962C8B-B14F-4D97-AF65-F5344CB8AC3E}">
        <ns3:creationId val="845235395"/>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44F262D2-C5E5-486A-B005-D2E67285F7D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‏پیدا کردن کارهای خود</a:t>
            </a:r>
          </a:p>
        </p:txBody>
      </p:sp>
      <p:sp>
        <p:nvSpPr>
          <p:cNvPr id="2" name="">
            <a:extLst>
              <a:ext uri="{FF2B5EF4-FFF2-40B4-BE49-F238E27FC236}">
                <ns2:creationId id="{33BAD6CA-1455-48A4-B167-50E9566E642F}"/>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با حساب خود وارد صفحه پورتال شوید.</a:t>
            </a:r>
          </a:p>
        </p:txBody>
      </p:sp>
      <p:sp>
        <p:nvSpPr>
          <p:cNvPr id="3" name="">
            <a:extLst>
              <a:ext uri="{FF2B5EF4-FFF2-40B4-BE49-F238E27FC236}">
                <ns2:creationId id="{87D84EB7-739B-402F-BAD3-1F3479BE918F}"/>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«نمایش کارها» را روی «کارهای من» بگذارید.</a:t>
            </a:r>
          </a:p>
        </p:txBody>
      </p:sp>
      <p:sp>
        <p:nvSpPr>
          <p:cNvPr id="4" name="">
            <a:extLst>
              <a:ext uri="{FF2B5EF4-FFF2-40B4-BE49-F238E27FC236}">
                <ns2:creationId id="{E1948280-64EE-41AC-A5AE-8D2149CF0C23}"/>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حوزه و بازه موعد شمسی را انتخاب کنید.</a:t>
            </a:r>
          </a:p>
        </p:txBody>
      </p:sp>
      <p:sp>
        <p:nvSpPr>
          <p:cNvPr id="5" name="">
            <a:extLst>
              <a:ext uri="{FF2B5EF4-FFF2-40B4-BE49-F238E27FC236}">
                <ns2:creationId id="{A9BA6C44-77F6-4D6A-A398-12405E49F5B0}"/>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«نمایش» را بزنید و عنوان و موعد کار را بخوانید.</a:t>
            </a:r>
          </a:p>
        </p:txBody>
      </p:sp>
      <p:sp>
        <p:nvSpPr>
          <p:cNvPr id="6" name="">
            <a:extLst>
              <a:ext uri="{FF2B5EF4-FFF2-40B4-BE49-F238E27FC236}">
                <ns2:creationId id="{06C79933-CFA2-4B2B-BD8B-055981B1E532}"/>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e3fdc85ceaa34868"/>
              </a:rPr>
              <a:t>http://portal.localhost:8085/portal</a:t>
            </a:r>
          </a:p>
        </p:txBody>
      </p:sp>
      <p:sp>
        <p:nvSpPr>
          <p:cNvPr id="7" name="">
            <a:extLst>
              <a:ext uri="{FF2B5EF4-FFF2-40B4-BE49-F238E27FC236}">
                <ns2:creationId id="{A82FB4AE-C137-455E-8EA5-3EB924EEF82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‏علیرضا کارهای موجودی و فناوری اطلاعات را در حساب خود می‌بیند.</a:t>
            </a:r>
          </a:p>
        </p:txBody>
      </p:sp>
      <p:sp>
        <p:nvSpPr>
          <p:cNvPr id="8" name="">
            <a:extLst>
              <a:ext uri="{FF2B5EF4-FFF2-40B4-BE49-F238E27FC236}">
                <ns2:creationId id="{780A96EC-3E27-4FF2-AA3E-95E1594AFA18}"/>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‏۷</a:t>
            </a:r>
          </a:p>
        </p:txBody>
      </p:sp>
    </p:spTree>
    <p:extLst>
      <p:ext uri="{BB962C8B-B14F-4D97-AF65-F5344CB8AC3E}">
        <ns4:creationId val="1475608586"/>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4DC95CFD-45CB-4846-89EC-9DE8DD859F06}"/>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کار جدید خارج از برنامه</a:t>
            </a:r>
          </a:p>
        </p:txBody>
      </p:sp>
      <p:sp>
        <p:nvSpPr>
          <p:cNvPr id="2" name="">
            <a:extLst>
              <a:ext uri="{FF2B5EF4-FFF2-40B4-BE49-F238E27FC236}">
                <ns2:creationId id="{1B36C2EE-D9AE-4319-8A7C-28C0AB6E06F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در پورتال، بخش «ثبت اقدام کاری» را پیدا کنید.</a:t>
            </a:r>
          </a:p>
        </p:txBody>
      </p:sp>
      <p:sp>
        <p:nvSpPr>
          <p:cNvPr id="3" name="">
            <a:extLst>
              <a:ext uri="{FF2B5EF4-FFF2-40B4-BE49-F238E27FC236}">
                <ns2:creationId id="{43BB1CCC-79A5-44D7-AF3F-EB11939678C3}"/>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عنوان، حوزه، مسئول، تاریخ شروع و موعد را وارد کنید.</a:t>
            </a:r>
          </a:p>
        </p:txBody>
      </p:sp>
      <p:sp>
        <p:nvSpPr>
          <p:cNvPr id="4" name="">
            <a:extLst>
              <a:ext uri="{FF2B5EF4-FFF2-40B4-BE49-F238E27FC236}">
                <ns2:creationId id="{8BD1D716-22E3-4BB5-A1F0-97F65BB5292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اولویت و وضعیت را مشخص و برای تمرین «آزمایشی» را انتخاب کنید.</a:t>
            </a:r>
          </a:p>
        </p:txBody>
      </p:sp>
      <p:sp>
        <p:nvSpPr>
          <p:cNvPr id="5" name="">
            <a:extLst>
              <a:ext uri="{FF2B5EF4-FFF2-40B4-BE49-F238E27FC236}">
                <ns2:creationId id="{3019B626-2FA1-40F8-93EF-59B8F9CBEA3A}"/>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«ثبت اقدام» را بزنید و آن را در فهرست کارها ببینید.</a:t>
            </a:r>
          </a:p>
        </p:txBody>
      </p:sp>
      <p:sp>
        <p:nvSpPr>
          <p:cNvPr id="6" name="">
            <a:extLst>
              <a:ext uri="{FF2B5EF4-FFF2-40B4-BE49-F238E27FC236}">
                <ns2:creationId id="{6F6BF852-4AF9-4D43-8BFA-CAB449001F5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کار ساخته‌شده از قالب، دوباره اقدام دستی نسازید.</a:t>
            </a:r>
          </a:p>
        </p:txBody>
      </p:sp>
      <p:sp>
        <p:nvSpPr>
          <p:cNvPr id="7" name="">
            <a:extLst>
              <a:ext uri="{FF2B5EF4-FFF2-40B4-BE49-F238E27FC236}">
                <ns2:creationId id="{6898DF89-2789-4C43-8C0D-2408E5C4295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‏۸</a:t>
            </a:r>
          </a:p>
        </p:txBody>
      </p:sp>
    </p:spTree>
    <p:extLst>
      <p:ext uri="{BB962C8B-B14F-4D97-AF65-F5344CB8AC3E}">
        <ns3:creationId val="1708895231"/>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FB6E3CFC-76BF-4E89-B40A-62DFE1673089}"/>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پیشرفت کار</a:t>
            </a:r>
          </a:p>
        </p:txBody>
      </p:sp>
      <p:sp>
        <p:nvSpPr>
          <p:cNvPr id="2" name="">
            <a:extLst>
              <a:ext uri="{FF2B5EF4-FFF2-40B4-BE49-F238E27FC236}">
                <ns2:creationId id="{87D1354E-2B79-49D1-8DCB-B366A982F744}"/>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کنار کار موردنظر، «ثبت پیشرفت» را بزنید.</a:t>
            </a:r>
          </a:p>
        </p:txBody>
      </p:sp>
      <p:sp>
        <p:nvSpPr>
          <p:cNvPr id="3" name="">
            <a:extLst>
              <a:ext uri="{FF2B5EF4-FFF2-40B4-BE49-F238E27FC236}">
                <ns2:creationId id="{3453F0F5-C04E-42A9-A5A6-3318921C40C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وضعیت را «در حال انجام» یا «دارای مانع» انتخاب کنید.</a:t>
            </a:r>
          </a:p>
        </p:txBody>
      </p:sp>
      <p:sp>
        <p:nvSpPr>
          <p:cNvPr id="4" name="">
            <a:extLst>
              <a:ext uri="{FF2B5EF4-FFF2-40B4-BE49-F238E27FC236}">
                <ns2:creationId id="{2C22E9AA-B693-43BB-BF7A-3EC8DFED517E}"/>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پیشرفت و توضیح کار یا مانع را وارد کنید.</a:t>
            </a:r>
          </a:p>
        </p:txBody>
      </p:sp>
      <p:sp>
        <p:nvSpPr>
          <p:cNvPr id="5" name="">
            <a:extLst>
              <a:ext uri="{FF2B5EF4-FFF2-40B4-BE49-F238E27FC236}">
                <ns2:creationId id="{326488EC-46E2-47DA-9CFD-165A066CD4A6}"/>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دکمه «ذخیره پیشرفت» را بزنید.</a:t>
            </a:r>
          </a:p>
        </p:txBody>
      </p:sp>
      <p:sp>
        <p:nvSpPr>
          <p:cNvPr id="6" name="">
            <a:extLst>
              <a:ext uri="{FF2B5EF4-FFF2-40B4-BE49-F238E27FC236}">
                <ns2:creationId id="{7558363F-707E-48F2-95CD-D7232D1B958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‏ثبت پیشرفت در همین صفحه انجام می‌شود؛ رفتن به میزکار لازم نیست.</a:t>
            </a:r>
          </a:p>
        </p:txBody>
      </p:sp>
      <p:sp>
        <p:nvSpPr>
          <p:cNvPr id="7" name="">
            <a:extLst>
              <a:ext uri="{FF2B5EF4-FFF2-40B4-BE49-F238E27FC236}">
                <ns2:creationId id="{8DBC750F-F3ED-4D31-B21F-2765BFC8F42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‏۹</a:t>
            </a:r>
          </a:p>
        </p:txBody>
      </p:sp>
    </p:spTree>
    <p:extLst>
      <p:ext uri="{BB962C8B-B14F-4D97-AF65-F5344CB8AC3E}">
        <ns3:creationId val="1892041860"/>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D9377088-81AD-4EC3-ABDD-51003EB3C2C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‏تکمیل یک کار</a:t>
            </a:r>
          </a:p>
        </p:txBody>
      </p:sp>
      <p:sp>
        <p:nvSpPr>
          <p:cNvPr id="2" name="">
            <a:extLst>
              <a:ext uri="{FF2B5EF4-FFF2-40B4-BE49-F238E27FC236}">
                <ns2:creationId id="{3208D096-6B32-488A-8E2F-79F49588382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فقط پس از انجام واقعی کار، «انجام شد» را انتخاب کنید.</a:t>
            </a:r>
          </a:p>
        </p:txBody>
      </p:sp>
      <p:sp>
        <p:nvSpPr>
          <p:cNvPr id="3" name="">
            <a:extLst>
              <a:ext uri="{FF2B5EF4-FFF2-40B4-BE49-F238E27FC236}">
                <ns2:creationId id="{F58EEF8E-96B4-47DF-A4BB-5438C34BE76C}"/>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نتیجه را روشن بنویسید: چه کاری و با چه نتیجه‌ای انجام شد؟</a:t>
            </a:r>
          </a:p>
        </p:txBody>
      </p:sp>
      <p:sp>
        <p:nvSpPr>
          <p:cNvPr id="4" name="">
            <a:extLst>
              <a:ext uri="{FF2B5EF4-FFF2-40B4-BE49-F238E27FC236}">
                <ns2:creationId id="{4664B5B7-A2C6-444F-A4E1-1750739C856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پیشرفت به‌صورت خودکار به صددرصد می‌رسد.</a:t>
            </a:r>
          </a:p>
        </p:txBody>
      </p:sp>
      <p:sp>
        <p:nvSpPr>
          <p:cNvPr id="5" name="">
            <a:extLst>
              <a:ext uri="{FF2B5EF4-FFF2-40B4-BE49-F238E27FC236}">
                <ns2:creationId id="{42DF1569-356C-4A66-B7BB-F182F5693F1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ذخیره کنید؛ زمان ثبت تکمیل در سرور ثبت می‌شود.</a:t>
            </a:r>
          </a:p>
        </p:txBody>
      </p:sp>
      <p:sp>
        <p:nvSpPr>
          <p:cNvPr id="6" name="">
            <a:extLst>
              <a:ext uri="{FF2B5EF4-FFF2-40B4-BE49-F238E27FC236}">
                <ns2:creationId id="{F7AA90CC-CE8B-40E4-A2C5-00C9E00A5142}"/>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نتیجه: «فهرست کمبودها بررسی و برای بازرگانی ارسال شد.»</a:t>
            </a:r>
          </a:p>
        </p:txBody>
      </p:sp>
      <p:sp>
        <p:nvSpPr>
          <p:cNvPr id="7" name="">
            <a:extLst>
              <a:ext uri="{FF2B5EF4-FFF2-40B4-BE49-F238E27FC236}">
                <ns2:creationId id="{0A227061-5397-4BF7-8C19-EDFE3A27E229}"/>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‏۱۰</a:t>
            </a:r>
          </a:p>
        </p:txBody>
      </p:sp>
    </p:spTree>
    <p:extLst>
      <p:ext uri="{BB962C8B-B14F-4D97-AF65-F5344CB8AC3E}">
        <ns3:creationId val="1866704115"/>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BABC8796-4C10-46DB-9272-50345267F40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‏وضعیت انجام در موعد</a:t>
            </a:r>
          </a:p>
        </p:txBody>
      </p:sp>
      <p:graphicFrame>
        <p:nvGraphicFramePr>
          <p:cNvPr id="2" name="">
            <a:extLst>
              <a:ext uri="{FF2B5EF4-FFF2-40B4-BE49-F238E27FC236}">
                <ns2:creationId id="{46D8AADE-1C01-4801-B34E-033AF1DA3B85}"/>
              </a:ext>
            </a:extLst>
          </p:cNvPr>
          <p:cNvGraphicFramePr/>
          <p:nvPr/>
        </p:nvGraphicFramePr>
        <p:xfrm>
          <a:off x="685800" y="1581150"/>
          <a:ext cx="10820400" cy="3714750"/>
        </p:xfrm>
        <a:graphic>
          <a:graphicData uri="http://schemas.openxmlformats.org/drawingml/2006/table">
            <a:tbl>
              <a:tblPr/>
              <a:tblGrid>
                <a:gridCol w="7810500"/>
                <a:gridCol w="3009900"/>
              </a:tblGrid>
              <a:tr h="742950">
                <a:tc>
                  <a:txBody>
                    <a:bodyPr lIns="133350" tIns="133350" rIns="133350" bIns="133350"/>
                    <a:lstStyle/>
                    <a:p>
                      <a:pPr algn="r" rtl="1"/>
                      <a:r>
                        <a:rPr sz="1875" b="1" lang="fa-IR">
                          <a:solidFill>
                            <a:srgbClr val="FFFFFF"/>
                          </a:solidFill>
                          <a:latin typeface="Arial"/>
                          <a:ea typeface="Arial"/>
                          <a:cs typeface="Arial"/>
                        </a:rPr>
                        <a:t>معنی</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برچسب</a:t>
                      </a:r>
                    </a:p>
                  </a:txBody>
                  <a:tcPr marL="91440" marR="91440" marT="45720" marB="45720" anchor="ctr">
                    <a:solidFill>
                      <a:srgbClr val="163849"/>
                    </a:solidFill>
                  </a:tcPr>
                </a:tc>
              </a:tr>
              <a:tr h="742950">
                <a:tc>
                  <a:txBody>
                    <a:bodyPr lIns="133350" tIns="133350" rIns="133350" bIns="133350"/>
                    <a:lstStyle/>
                    <a:p>
                      <a:pPr algn="r" rtl="1"/>
                      <a:r>
                        <a:rPr sz="1800" b="0" lang="fa-IR">
                          <a:solidFill>
                            <a:srgbClr val="163849"/>
                          </a:solidFill>
                          <a:latin typeface="Arial"/>
                          <a:ea typeface="Arial"/>
                          <a:cs typeface="Arial"/>
                        </a:rPr>
                        <a:t>کار تا پایان روز موعد، تکمیل و ثبت 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انجام در موعد</a:t>
                      </a:r>
                    </a:p>
                  </a:txBody>
                  <a:tcPr marL="91440" marR="91440" marT="45720" marB="45720" anchor="ctr">
                    <a:solidFill>
                      <a:srgbClr val="EDF4F6"/>
                    </a:solidFill>
                  </a:tcPr>
                </a:tc>
              </a:tr>
              <a:tr h="742950">
                <a:tc>
                  <a:txBody>
                    <a:bodyPr lIns="133350" tIns="133350" rIns="133350" bIns="133350"/>
                    <a:lstStyle/>
                    <a:p>
                      <a:pPr algn="r" rtl="1"/>
                      <a:r>
                        <a:rPr sz="1800" b="0" lang="fa-IR">
                          <a:solidFill>
                            <a:srgbClr val="163849"/>
                          </a:solidFill>
                          <a:latin typeface="Arial"/>
                          <a:ea typeface="Arial"/>
                          <a:cs typeface="Arial"/>
                        </a:rPr>
                        <a:t>تکمیل کار بعد از روز موعد ثبت شده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انجام با تأخیر</a:t>
                      </a:r>
                    </a:p>
                  </a:txBody>
                  <a:tcPr marL="91440" marR="91440" marT="45720" marB="45720" anchor="ctr">
                    <a:solidFill>
                      <a:srgbClr val="FFFFFF"/>
                    </a:solidFill>
                  </a:tcPr>
                </a:tc>
              </a:tr>
              <a:tr h="742950">
                <a:tc>
                  <a:txBody>
                    <a:bodyPr lIns="133350" tIns="133350" rIns="133350" bIns="133350"/>
                    <a:lstStyle/>
                    <a:p>
                      <a:pPr algn="r" rtl="1"/>
                      <a:r>
                        <a:rPr sz="1800" b="0" lang="fa-IR">
                          <a:solidFill>
                            <a:srgbClr val="163849"/>
                          </a:solidFill>
                          <a:latin typeface="Arial"/>
                          <a:ea typeface="Arial"/>
                          <a:cs typeface="Arial"/>
                        </a:rPr>
                        <a:t>موعد گذشته و کار هنوز تکمیل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عقب‌افتاده</a:t>
                      </a:r>
                    </a:p>
                  </a:txBody>
                  <a:tcPr marL="91440" marR="91440" marT="45720" marB="45720" anchor="ctr">
                    <a:solidFill>
                      <a:srgbClr val="EDF4F6"/>
                    </a:solidFill>
                  </a:tcPr>
                </a:tc>
              </a:tr>
              <a:tr h="742950">
                <a:tc>
                  <a:txBody>
                    <a:bodyPr lIns="133350" tIns="133350" rIns="133350" bIns="133350"/>
                    <a:lstStyle/>
                    <a:p>
                      <a:pPr algn="r" rtl="1"/>
                      <a:r>
                        <a:rPr sz="1800" b="0" lang="fa-IR">
                          <a:solidFill>
                            <a:srgbClr val="163849"/>
                          </a:solidFill>
                          <a:latin typeface="Arial"/>
                          <a:ea typeface="Arial"/>
                          <a:cs typeface="Arial"/>
                        </a:rPr>
                        <a:t>موعد کار هنوز نرسیده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موعد آینده</a:t>
                      </a:r>
                    </a:p>
                  </a:txBody>
                  <a:tcPr marL="91440" marR="91440" marT="45720" marB="45720" anchor="ctr">
                    <a:solidFill>
                      <a:srgbClr val="FFFFFF"/>
                    </a:solidFill>
                  </a:tcPr>
                </a:tc>
              </a:tr>
            </a:tbl>
          </a:graphicData>
        </a:graphic>
      </p:graphicFrame>
      <p:sp>
        <p:nvSpPr>
          <p:cNvPr id="3" name="">
            <a:extLst>
              <a:ext uri="{FF2B5EF4-FFF2-40B4-BE49-F238E27FC236}">
                <ns2:creationId id="{A625BCD9-52A0-4E5A-AE95-D8AC51B88202}"/>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کارهای قدیمی بدون زمان تکمیل، سامانه زمان را حدس نمی‌زند.</a:t>
            </a:r>
          </a:p>
        </p:txBody>
      </p:sp>
      <p:sp>
        <p:nvSpPr>
          <p:cNvPr id="4" name="">
            <a:extLst>
              <a:ext uri="{FF2B5EF4-FFF2-40B4-BE49-F238E27FC236}">
                <ns2:creationId id="{51A55013-4E83-466C-886F-F7FE21592A0F}"/>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‏۱۱</a:t>
            </a:r>
          </a:p>
        </p:txBody>
      </p:sp>
    </p:spTree>
    <p:extLst>
      <p:ext uri="{BB962C8B-B14F-4D97-AF65-F5344CB8AC3E}">
        <ns3:creationId val="1009165894"/>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C4F4CEE4-C77F-4A32-A2E1-57EA7D457089}"/>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‏برنامه‌های هفتگی سه واحد</a:t>
            </a:r>
          </a:p>
        </p:txBody>
      </p:sp>
      <p:sp>
        <p:nvSpPr>
          <p:cNvPr id="2" name="">
            <a:extLst>
              <a:ext uri="{FF2B5EF4-FFF2-40B4-BE49-F238E27FC236}">
                <ns2:creationId id="{029452FC-E7F0-470E-AD79-3B9D85E93A79}"/>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‏هر واحد پنج قالب هفتگی فعال، از شنبه تا چهارشنبه، دارد.</a:t>
            </a:r>
          </a:p>
        </p:txBody>
      </p:sp>
      <p:sp>
        <p:nvSpPr>
          <p:cNvPr id="3" name="">
            <a:extLst>
              <a:ext uri="{FF2B5EF4-FFF2-40B4-BE49-F238E27FC236}">
                <ns2:creationId id="{5EC3CCDA-21C9-4D7E-B02F-D241B60C5687}"/>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‏سامانه از قالب فعال، اقدام دارای مسئول و موعد می‌سازد.</a:t>
            </a:r>
          </a:p>
        </p:txBody>
      </p:sp>
      <p:sp>
        <p:nvSpPr>
          <p:cNvPr id="4" name="">
            <a:extLst>
              <a:ext uri="{FF2B5EF4-FFF2-40B4-BE49-F238E27FC236}">
                <ns2:creationId id="{4A0B51E5-E744-4265-99B5-76ECEA416E05}"/>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‏پنجشنبه، جمعه و تعطیلات ثبت‌شده موعد خودکار کاری ندارند.</a:t>
            </a:r>
          </a:p>
        </p:txBody>
      </p:sp>
      <p:sp>
        <p:nvSpPr>
          <p:cNvPr id="5" name="">
            <a:extLst>
              <a:ext uri="{FF2B5EF4-FFF2-40B4-BE49-F238E27FC236}">
                <ns2:creationId id="{2F29C17A-5714-48E5-B33F-8C0631CB0611}"/>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‏قالب‌های ماهانه فعلاً غیرفعال مانده‌اند.</a:t>
            </a:r>
          </a:p>
        </p:txBody>
      </p:sp>
      <p:sp>
        <p:nvSpPr>
          <p:cNvPr id="6" name="">
            <a:extLst>
              <a:ext uri="{FF2B5EF4-FFF2-40B4-BE49-F238E27FC236}">
                <ns2:creationId id="{AE5C1B73-9BC9-4BC7-AF4A-670A29B12C64}"/>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9d25edbb944041fd"/>
              </a:rPr>
              <a:t>http://portal.localhost:8085/app/portal-template</a:t>
            </a:r>
          </a:p>
        </p:txBody>
      </p:sp>
      <p:sp>
        <p:nvSpPr>
          <p:cNvPr id="7" name="">
            <a:extLst>
              <a:ext uri="{FF2B5EF4-FFF2-40B4-BE49-F238E27FC236}">
                <ns2:creationId id="{8E584739-D519-4B27-A42E-24DC6CFC466F}"/>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‏تولید دوباره همان بازه نباید اقدام تکراری بسازد.</a:t>
            </a:r>
          </a:p>
        </p:txBody>
      </p:sp>
      <p:sp>
        <p:nvSpPr>
          <p:cNvPr id="8" name="">
            <a:extLst>
              <a:ext uri="{FF2B5EF4-FFF2-40B4-BE49-F238E27FC236}">
                <ns2:creationId id="{0160F4A9-C7B8-4455-B26C-8EBDCFB94707}"/>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‏۱۲</a:t>
            </a:r>
          </a:p>
        </p:txBody>
      </p:sp>
    </p:spTree>
    <p:extLst>
      <p:ext uri="{BB962C8B-B14F-4D97-AF65-F5344CB8AC3E}">
        <ns4:creationId val="2063209298"/>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71C0B2D6-4468-47CA-84A5-E5B5AD5B3635}"/>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‏مرور و فعال‌سازی قالب‌ها</a:t>
            </a:r>
          </a:p>
        </p:txBody>
      </p:sp>
      <p:sp>
        <p:nvSpPr>
          <p:cNvPr id="2" name="">
            <a:extLst>
              <a:ext uri="{FF2B5EF4-FFF2-40B4-BE49-F238E27FC236}">
                <ns2:creationId id="{5AA128B8-D2D6-4FDE-A2DD-7C167DC8F8AD}"/>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یا مسئول مجاز، فهرست قالب‌های برنامه را باز می‌کند.</a:t>
            </a:r>
          </a:p>
        </p:txBody>
      </p:sp>
      <p:sp>
        <p:nvSpPr>
          <p:cNvPr id="3" name="">
            <a:extLst>
              <a:ext uri="{FF2B5EF4-FFF2-40B4-BE49-F238E27FC236}">
                <ns2:creationId id="{52793402-ED91-47C3-87DE-38EF88A55EA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حوزه، عنوان، تناوب و مسئول را بررسی می‌کند.</a:t>
            </a:r>
          </a:p>
        </p:txBody>
      </p:sp>
      <p:sp>
        <p:nvSpPr>
          <p:cNvPr id="4" name="">
            <a:extLst>
              <a:ext uri="{FF2B5EF4-FFF2-40B4-BE49-F238E27FC236}">
                <ns2:creationId id="{05C523F2-00C4-49DB-A2C3-E61094BF5670}"/>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روز هفته را با برنامه واقعی واحد مطابقت می‌دهد.</a:t>
            </a:r>
          </a:p>
        </p:txBody>
      </p:sp>
      <p:sp>
        <p:nvSpPr>
          <p:cNvPr id="5" name="">
            <a:extLst>
              <a:ext uri="{FF2B5EF4-FFF2-40B4-BE49-F238E27FC236}">
                <ns2:creationId id="{3197A4B6-E98D-4B0E-8400-EB106202ED72}"/>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پس از تأیید برنامه، «فعال» را تیک می‌زند و ذخیره می‌کند.</a:t>
            </a:r>
          </a:p>
        </p:txBody>
      </p:sp>
      <p:sp>
        <p:nvSpPr>
          <p:cNvPr id="6" name="">
            <a:extLst>
              <a:ext uri="{FF2B5EF4-FFF2-40B4-BE49-F238E27FC236}">
                <ns2:creationId id="{DE2495E0-22CE-45DD-8753-74F06C26F6AD}"/>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‏تغییر قالب برای برنامه‌های بعدی است؛ کارهای ساخته‌شده را جدا بررسی کنید.</a:t>
            </a:r>
          </a:p>
        </p:txBody>
      </p:sp>
      <p:sp>
        <p:nvSpPr>
          <p:cNvPr id="7" name="">
            <a:extLst>
              <a:ext uri="{FF2B5EF4-FFF2-40B4-BE49-F238E27FC236}">
                <ns2:creationId id="{929F7B96-BDAB-4783-A353-7AB2792764F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‏۱۳</a:t>
            </a:r>
          </a:p>
        </p:txBody>
      </p:sp>
    </p:spTree>
    <p:extLst>
      <p:ext uri="{BB962C8B-B14F-4D97-AF65-F5344CB8AC3E}">
        <ns3:creationId val="15363190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B45B7269-5E65-46D8-A799-B2474275C96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‏تفاوت کار، مقدار شاخص و هدف</a:t>
            </a:r>
          </a:p>
        </p:txBody>
      </p:sp>
      <p:graphicFrame>
        <p:nvGraphicFramePr>
          <p:cNvPr id="2" name="">
            <a:extLst>
              <a:ext uri="{FF2B5EF4-FFF2-40B4-BE49-F238E27FC236}">
                <ns2:creationId id="{5340866C-C346-4613-B843-CACC347DD370}"/>
              </a:ext>
            </a:extLst>
          </p:cNvPr>
          <p:cNvGraphicFramePr/>
          <p:nvPr/>
        </p:nvGraphicFramePr>
        <p:xfrm>
          <a:off x="685800" y="1581150"/>
          <a:ext cx="10820400" cy="3333750"/>
        </p:xfrm>
        <a:graphic>
          <a:graphicData uri="http://schemas.openxmlformats.org/drawingml/2006/table">
            <a:tbl>
              <a:tblPr/>
              <a:tblGrid>
                <a:gridCol w="7810500"/>
                <a:gridCol w="3009900"/>
              </a:tblGrid>
              <a:tr h="833438">
                <a:tc>
                  <a:txBody>
                    <a:bodyPr lIns="133350" tIns="133350" rIns="133350" bIns="133350"/>
                    <a:lstStyle/>
                    <a:p>
                      <a:pPr algn="r" rtl="1"/>
                      <a:r>
                        <a:rPr sz="1875" b="1" lang="fa-IR">
                          <a:solidFill>
                            <a:srgbClr val="FFFFFF"/>
                          </a:solidFill>
                          <a:latin typeface="Arial"/>
                          <a:ea typeface="Arial"/>
                          <a:cs typeface="Arial"/>
                        </a:rPr>
                        <a:t>نمونه و کاربرد</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مفهوم</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«بررسی تیکت‌ها»؛ فعالیتی با مسئول و موعد</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کار</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«تیکت حل‌شده: ۳»؛ عدد ثبت‌شده در یک دوره</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مقدار شاخص</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معیار مورد انتظار مدیریت؛ فعلاً تعیین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هدف</a:t>
                      </a:r>
                    </a:p>
                  </a:txBody>
                  <a:tcPr marL="91440" marR="91440" marT="45720" marB="45720" anchor="ctr">
                    <a:solidFill>
                      <a:srgbClr val="EDF4F6"/>
                    </a:solidFill>
                  </a:tcPr>
                </a:tc>
              </a:tr>
            </a:tbl>
          </a:graphicData>
        </a:graphic>
      </p:graphicFrame>
      <p:sp>
        <p:nvSpPr>
          <p:cNvPr id="3" name="">
            <a:extLst>
              <a:ext uri="{FF2B5EF4-FFF2-40B4-BE49-F238E27FC236}">
                <ns2:creationId id="{44D8221D-076B-4B15-9B03-D50E81F4DBC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‏کارمند مقدار واقعی را ثبت می‌کند؛ تعریف شاخص و هدف با مدیریت است.</a:t>
            </a:r>
          </a:p>
        </p:txBody>
      </p:sp>
      <p:sp>
        <p:nvSpPr>
          <p:cNvPr id="4" name="">
            <a:extLst>
              <a:ext uri="{FF2B5EF4-FFF2-40B4-BE49-F238E27FC236}">
                <ns2:creationId id="{E6B521C9-9B28-45A0-AC84-58E128A521A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‏۱۴</a:t>
            </a:r>
          </a:p>
        </p:txBody>
      </p:sp>
    </p:spTree>
    <p:extLst>
      <p:ext uri="{BB962C8B-B14F-4D97-AF65-F5344CB8AC3E}">
        <ns3:creationId val="13831653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E3371220-642F-4E72-807F-433D85174260}"/>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‏شروع ثبت مقدار شاخص</a:t>
            </a:r>
          </a:p>
        </p:txBody>
      </p:sp>
      <p:sp>
        <p:nvSpPr>
          <p:cNvPr id="2" name="">
            <a:extLst>
              <a:ext uri="{FF2B5EF4-FFF2-40B4-BE49-F238E27FC236}">
                <ns2:creationId id="{ACBAF484-0B9F-4AE5-99E7-A94D53342C0C}"/>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«ثبت و ویرایش مقدار شاخص» را در پورتال بزنید.</a:t>
            </a:r>
          </a:p>
        </p:txBody>
      </p:sp>
      <p:sp>
        <p:nvSpPr>
          <p:cNvPr id="3" name="">
            <a:extLst>
              <a:ext uri="{FF2B5EF4-FFF2-40B4-BE49-F238E27FC236}">
                <ns2:creationId id="{0B22CDAB-7736-4E90-B4E4-42953855EE4C}"/>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در فهرست، «افزودن» را انتخاب کنید.</a:t>
            </a:r>
          </a:p>
        </p:txBody>
      </p:sp>
      <p:sp>
        <p:nvSpPr>
          <p:cNvPr id="4" name="">
            <a:extLst>
              <a:ext uri="{FF2B5EF4-FFF2-40B4-BE49-F238E27FC236}">
                <ns2:creationId id="{8EC5EF06-F6BF-4576-98D9-830A56827914}"/>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حوزه و نام فارسی شاخص مصوب را انتخاب کنید.</a:t>
            </a:r>
          </a:p>
        </p:txBody>
      </p:sp>
      <p:sp>
        <p:nvSpPr>
          <p:cNvPr id="5" name="">
            <a:extLst>
              <a:ext uri="{FF2B5EF4-FFF2-40B4-BE49-F238E27FC236}">
                <ns2:creationId id="{91154452-8E9B-4CA5-8C78-3E74A238D9BC}"/>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شروع و پایان دوره را با تقویم شمسی وارد کنید.</a:t>
            </a:r>
          </a:p>
        </p:txBody>
      </p:sp>
      <p:sp>
        <p:nvSpPr>
          <p:cNvPr id="6" name="">
            <a:extLst>
              <a:ext uri="{FF2B5EF4-FFF2-40B4-BE49-F238E27FC236}">
                <ns2:creationId id="{D47BA9EA-55BF-49E6-87B8-FB452B79379A}"/>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e6d8bab5fa484272"/>
              </a:rPr>
              <a:t>http://portal.localhost:8085/app/portal-metric-value</a:t>
            </a:r>
          </a:p>
        </p:txBody>
      </p:sp>
      <p:sp>
        <p:nvSpPr>
          <p:cNvPr id="7" name="">
            <a:extLst>
              <a:ext uri="{FF2B5EF4-FFF2-40B4-BE49-F238E27FC236}">
                <ns2:creationId id="{62A37A2F-4A23-498C-B9FB-273DCA3B4D37}"/>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‏با تایپ بخشی از نام، مثلاً «تیکت»، شاخص را پیدا کنید.</a:t>
            </a:r>
          </a:p>
        </p:txBody>
      </p:sp>
      <p:sp>
        <p:nvSpPr>
          <p:cNvPr id="8" name="">
            <a:extLst>
              <a:ext uri="{FF2B5EF4-FFF2-40B4-BE49-F238E27FC236}">
                <ns2:creationId id="{1ABACF1A-D518-49B9-94DD-97B4499CD792}"/>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‏۱۵</a:t>
            </a:r>
          </a:p>
        </p:txBody>
      </p:sp>
    </p:spTree>
    <p:extLst>
      <p:ext uri="{BB962C8B-B14F-4D97-AF65-F5344CB8AC3E}">
        <ns4:creationId val="1742416332"/>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A893817A-EADE-4F08-BAC7-381502D02C8A}"/>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‏نمونه ثبت مقدار شاخص</a:t>
            </a:r>
          </a:p>
        </p:txBody>
      </p:sp>
      <p:sp>
        <p:nvSpPr>
          <p:cNvPr id="2" name="">
            <a:extLst>
              <a:ext uri="{FF2B5EF4-FFF2-40B4-BE49-F238E27FC236}">
                <ns2:creationId id="{B7CCC5CB-2915-42AE-B731-35D0DFFCEDEB}"/>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‏حوزه: فناوری اطلاعات و مدیریت داده</a:t>
            </a:r>
          </a:p>
        </p:txBody>
      </p:sp>
      <p:sp>
        <p:nvSpPr>
          <p:cNvPr id="3" name="">
            <a:extLst>
              <a:ext uri="{FF2B5EF4-FFF2-40B4-BE49-F238E27FC236}">
                <ns2:creationId id="{0ABD477C-2BE1-4DAB-ACC8-564F6A7BEFA4}"/>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‏شاخص: تیکت حل‌شده؛ مقدار واقعی: ۳</a:t>
            </a:r>
          </a:p>
        </p:txBody>
      </p:sp>
      <p:sp>
        <p:nvSpPr>
          <p:cNvPr id="4" name="">
            <a:extLst>
              <a:ext uri="{FF2B5EF4-FFF2-40B4-BE49-F238E27FC236}">
                <ns2:creationId id="{B0162563-876B-4B63-81E0-2DBDB81EAAFE}"/>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‏وضعیت داده: معتبر؛ منبع: آموزش کار با سامانه</a:t>
            </a:r>
          </a:p>
        </p:txBody>
      </p:sp>
      <p:sp>
        <p:nvSpPr>
          <p:cNvPr id="5" name="">
            <a:extLst>
              <a:ext uri="{FF2B5EF4-FFF2-40B4-BE49-F238E27FC236}">
                <ns2:creationId id="{517ED378-6D01-47EF-BEB8-394525B4CD3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تمرین تیک «آزمایشی» را بزنید و ذخیره کنید.</a:t>
            </a:r>
          </a:p>
        </p:txBody>
      </p:sp>
      <p:sp>
        <p:nvSpPr>
          <p:cNvPr id="6" name="">
            <a:extLst>
              <a:ext uri="{FF2B5EF4-FFF2-40B4-BE49-F238E27FC236}">
                <ns2:creationId id="{E0A6CC86-C7BD-4ECB-A83C-DF118044F20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‏شروع و پایان دوره را مطابق بازه آموزش انتخاب کنید؛ هدف وارد نکنید.</a:t>
            </a:r>
          </a:p>
        </p:txBody>
      </p:sp>
      <p:sp>
        <p:nvSpPr>
          <p:cNvPr id="7" name="">
            <a:extLst>
              <a:ext uri="{FF2B5EF4-FFF2-40B4-BE49-F238E27FC236}">
                <ns2:creationId id="{D273C8BF-FE07-47CC-8BE7-93B569B29FC2}"/>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‏۱۶</a:t>
            </a:r>
          </a:p>
        </p:txBody>
      </p:sp>
    </p:spTree>
    <p:extLst>
      <p:ext uri="{BB962C8B-B14F-4D97-AF65-F5344CB8AC3E}">
        <ns3:creationId val="823608726"/>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6DB0DE99-B1C1-43EB-BA87-9E873D5B0266}"/>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‏معتبر، موقت و ناموجود</a:t>
            </a:r>
          </a:p>
        </p:txBody>
      </p:sp>
      <p:graphicFrame>
        <p:nvGraphicFramePr>
          <p:cNvPr id="2" name="">
            <a:extLst>
              <a:ext uri="{FF2B5EF4-FFF2-40B4-BE49-F238E27FC236}">
                <ns2:creationId id="{8667943B-8EE7-47EB-87E9-34BC88413FDE}"/>
              </a:ext>
            </a:extLst>
          </p:cNvPr>
          <p:cNvGraphicFramePr/>
          <p:nvPr/>
        </p:nvGraphicFramePr>
        <p:xfrm>
          <a:off x="685800" y="1581150"/>
          <a:ext cx="10820400" cy="3333750"/>
        </p:xfrm>
        <a:graphic>
          <a:graphicData uri="http://schemas.openxmlformats.org/drawingml/2006/table">
            <a:tbl>
              <a:tblPr/>
              <a:tblGrid>
                <a:gridCol w="7810500"/>
                <a:gridCol w="3009900"/>
              </a:tblGrid>
              <a:tr h="833438">
                <a:tc>
                  <a:txBody>
                    <a:bodyPr lIns="133350" tIns="133350" rIns="133350" bIns="133350"/>
                    <a:lstStyle/>
                    <a:p>
                      <a:pPr algn="r" rtl="1"/>
                      <a:r>
                        <a:rPr sz="1875" b="1" lang="fa-IR">
                          <a:solidFill>
                            <a:srgbClr val="FFFFFF"/>
                          </a:solidFill>
                          <a:latin typeface="Arial"/>
                          <a:ea typeface="Arial"/>
                          <a:cs typeface="Arial"/>
                        </a:rPr>
                        <a:t>چه زمانی انتخاب شود؟</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وضعیت داده</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عدد بررسی شده و قابل اتکاست؛ ممکن است صفر باشد.</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معتبر</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عدد اولیه است و هنوز بررسی نهایی نشده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موقت</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داده ندارید یا اندازه‌گیری انجام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ناموجود</a:t>
                      </a:r>
                    </a:p>
                  </a:txBody>
                  <a:tcPr marL="91440" marR="91440" marT="45720" marB="45720" anchor="ctr">
                    <a:solidFill>
                      <a:srgbClr val="EDF4F6"/>
                    </a:solidFill>
                  </a:tcPr>
                </a:tc>
              </a:tr>
            </a:tbl>
          </a:graphicData>
        </a:graphic>
      </p:graphicFrame>
      <p:sp>
        <p:nvSpPr>
          <p:cNvPr id="3" name="">
            <a:extLst>
              <a:ext uri="{FF2B5EF4-FFF2-40B4-BE49-F238E27FC236}">
                <ns2:creationId id="{5FC44FC0-972C-418D-8743-E903248A174D}"/>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‏نبود داده را صفر ثبت نکنید؛ صفر خودش یک نتیجه اندازه‌گیری است.</a:t>
            </a:r>
          </a:p>
        </p:txBody>
      </p:sp>
      <p:sp>
        <p:nvSpPr>
          <p:cNvPr id="4" name="">
            <a:extLst>
              <a:ext uri="{FF2B5EF4-FFF2-40B4-BE49-F238E27FC236}">
                <ns2:creationId id="{D1498DC3-EEFA-48C6-9A49-E9A017F9DCE0}"/>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‏۱۷</a:t>
            </a:r>
          </a:p>
        </p:txBody>
      </p:sp>
    </p:spTree>
    <p:extLst>
      <p:ext uri="{BB962C8B-B14F-4D97-AF65-F5344CB8AC3E}">
        <ns3:creationId val="1777293133"/>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D875578C-DE99-4F69-8C48-65DE16ED4331}"/>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‏استفاده از تقویم شمسی</a:t>
            </a:r>
          </a:p>
        </p:txBody>
      </p:sp>
      <p:sp>
        <p:nvSpPr>
          <p:cNvPr id="2" name="">
            <a:extLst>
              <a:ext uri="{FF2B5EF4-FFF2-40B4-BE49-F238E27FC236}">
                <ns2:creationId id="{4B79E3A5-C62F-4802-A669-309FE83B537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آیکون تقویم داخل فیلد تاریخ را بزنید.</a:t>
            </a:r>
          </a:p>
        </p:txBody>
      </p:sp>
      <p:sp>
        <p:nvSpPr>
          <p:cNvPr id="3" name="">
            <a:extLst>
              <a:ext uri="{FF2B5EF4-FFF2-40B4-BE49-F238E27FC236}">
                <ns2:creationId id="{7B53395B-9FA4-4E70-9FC5-0919D150D0A7}"/>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سال و ماه را از سربرگ انتخاب و روی روز کلیک کنید.</a:t>
            </a:r>
          </a:p>
        </p:txBody>
      </p:sp>
      <p:sp>
        <p:nvSpPr>
          <p:cNvPr id="4" name="">
            <a:extLst>
              <a:ext uri="{FF2B5EF4-FFF2-40B4-BE49-F238E27FC236}">
                <ns2:creationId id="{FE8D1A83-1240-48EA-87A5-9693612BE42F}"/>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پنجشنبه، جمعه و تعطیلات ثبت‌شده صورتی‌اند.</a:t>
            </a:r>
          </a:p>
        </p:txBody>
      </p:sp>
      <p:sp>
        <p:nvSpPr>
          <p:cNvPr id="5" name="">
            <a:extLst>
              <a:ext uri="{FF2B5EF4-FFF2-40B4-BE49-F238E27FC236}">
                <ns2:creationId id="{6817D888-6E87-4833-BE4D-CFCB08C02FD3}"/>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در تاریخ‌وساعت، ساعت را هم بررسی کنید.</a:t>
            </a:r>
          </a:p>
        </p:txBody>
      </p:sp>
      <p:sp>
        <p:nvSpPr>
          <p:cNvPr id="6" name="">
            <a:extLst>
              <a:ext uri="{FF2B5EF4-FFF2-40B4-BE49-F238E27FC236}">
                <ns2:creationId id="{6D86F6A0-D1DA-4A0C-B1DA-8C8CBF21985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‏می‌توانید تاریخ را دستی مانند ۱۴۰۵/۰۷/۲۲ وارد کنید.</a:t>
            </a:r>
          </a:p>
        </p:txBody>
      </p:sp>
      <p:sp>
        <p:nvSpPr>
          <p:cNvPr id="7" name="">
            <a:extLst>
              <a:ext uri="{FF2B5EF4-FFF2-40B4-BE49-F238E27FC236}">
                <ns2:creationId id="{70EC850A-4812-40EB-92F9-4B4AD6C04B5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‏۱۸</a:t>
            </a:r>
          </a:p>
        </p:txBody>
      </p:sp>
    </p:spTree>
    <p:extLst>
      <p:ext uri="{BB962C8B-B14F-4D97-AF65-F5344CB8AC3E}">
        <ns3:creationId val="708008165"/>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32E2D6B2-9A0F-4174-BDF9-6DF3133B331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‏مشاهده شاخص در گزارش</a:t>
            </a:r>
          </a:p>
        </p:txBody>
      </p:sp>
      <p:sp>
        <p:nvSpPr>
          <p:cNvPr id="2" name="">
            <a:extLst>
              <a:ext uri="{FF2B5EF4-FFF2-40B4-BE49-F238E27FC236}">
                <ns2:creationId id="{E0E847BA-4747-4781-9C4C-F9F4B93ADA5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به صفحه اصلی پورتال برگردید.</a:t>
            </a:r>
          </a:p>
        </p:txBody>
      </p:sp>
      <p:sp>
        <p:nvSpPr>
          <p:cNvPr id="3" name="">
            <a:extLst>
              <a:ext uri="{FF2B5EF4-FFF2-40B4-BE49-F238E27FC236}">
                <ns2:creationId id="{317C35BF-0ECF-42A8-A564-4D7F118CA15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حوزه، نوع داده و بازه دوره را مطابق رکورد انتخاب کنید.</a:t>
            </a:r>
          </a:p>
        </p:txBody>
      </p:sp>
      <p:sp>
        <p:nvSpPr>
          <p:cNvPr id="4" name="">
            <a:extLst>
              <a:ext uri="{FF2B5EF4-FFF2-40B4-BE49-F238E27FC236}">
                <ns2:creationId id="{11485064-8A01-4149-BDD0-F2AD699C51B3}"/>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«نمایش» را بزنید و بخش «نتایج شاخص‌ها» را ببینید.</a:t>
            </a:r>
          </a:p>
        </p:txBody>
      </p:sp>
      <p:sp>
        <p:nvSpPr>
          <p:cNvPr id="5" name="">
            <a:extLst>
              <a:ext uri="{FF2B5EF4-FFF2-40B4-BE49-F238E27FC236}">
                <ns2:creationId id="{27A0ACC1-792A-4B01-9173-0C45165C446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مقدار، اعتبار داده، منبع و زمان به‌روزرسانی را بررسی کنید.</a:t>
            </a:r>
          </a:p>
        </p:txBody>
      </p:sp>
      <p:sp>
        <p:nvSpPr>
          <p:cNvPr id="6" name="">
            <a:extLst>
              <a:ext uri="{FF2B5EF4-FFF2-40B4-BE49-F238E27FC236}">
                <ns2:creationId id="{49C34FEB-1C73-431E-A5EE-867FCA851B1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‏«هدف تعیین نشده» خطا نیست؛ فعلاً درباره موفقیت عددی قضاوت نمی‌شود.</a:t>
            </a:r>
          </a:p>
        </p:txBody>
      </p:sp>
      <p:sp>
        <p:nvSpPr>
          <p:cNvPr id="7" name="">
            <a:extLst>
              <a:ext uri="{FF2B5EF4-FFF2-40B4-BE49-F238E27FC236}">
                <ns2:creationId id="{1DD02F7A-DCFB-498D-ADDE-B8E8A9FC7CBB}"/>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‏۱۹</a:t>
            </a:r>
          </a:p>
        </p:txBody>
      </p:sp>
    </p:spTree>
    <p:extLst>
      <p:ext uri="{BB962C8B-B14F-4D97-AF65-F5344CB8AC3E}">
        <ns3:creationId val="145118698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9D536C07-B42F-49E0-ACE4-064DA93D383B}"/>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‏ایجاد گزارش دوره‌ای واحد</a:t>
            </a:r>
          </a:p>
        </p:txBody>
      </p:sp>
      <p:sp>
        <p:nvSpPr>
          <p:cNvPr id="2" name="">
            <a:extLst>
              <a:ext uri="{FF2B5EF4-FFF2-40B4-BE49-F238E27FC236}">
                <ns2:creationId id="{F4274AF7-66C5-452F-BB3F-981A11A045F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«ثبت و بررسی گزارش» را باز و «افزودن» را بزنید.</a:t>
            </a:r>
          </a:p>
        </p:txBody>
      </p:sp>
      <p:sp>
        <p:nvSpPr>
          <p:cNvPr id="3" name="">
            <a:extLst>
              <a:ext uri="{FF2B5EF4-FFF2-40B4-BE49-F238E27FC236}">
                <ns2:creationId id="{6915CD13-850C-45B1-A51B-FF7A66FFE006}"/>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عنوان، حوزه و شروع و پایان دوره را وارد کنید.</a:t>
            </a:r>
          </a:p>
        </p:txBody>
      </p:sp>
      <p:sp>
        <p:nvSpPr>
          <p:cNvPr id="4" name="">
            <a:extLst>
              <a:ext uri="{FF2B5EF4-FFF2-40B4-BE49-F238E27FC236}">
                <ns2:creationId id="{A2614DD2-C7F9-4964-9A24-3B547CA1BD1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دستاوردها، موانع و برنامه بعد را بنویسید.</a:t>
            </a:r>
          </a:p>
        </p:txBody>
      </p:sp>
      <p:sp>
        <p:nvSpPr>
          <p:cNvPr id="5" name="">
            <a:extLst>
              <a:ext uri="{FF2B5EF4-FFF2-40B4-BE49-F238E27FC236}">
                <ns2:creationId id="{F28723E9-5707-49AC-9911-6B3C3A99CFA5}"/>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تمرین «آزمایشی» را تیک بزنید؛ در پیش‌نویس ذخیره کنید.</a:t>
            </a:r>
          </a:p>
        </p:txBody>
      </p:sp>
      <p:sp>
        <p:nvSpPr>
          <p:cNvPr id="6" name="">
            <a:extLst>
              <a:ext uri="{FF2B5EF4-FFF2-40B4-BE49-F238E27FC236}">
                <ns2:creationId id="{DBFEF18E-E588-408F-AF08-BD104CA27ED9}"/>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1e532615f5924a7d"/>
              </a:rPr>
              <a:t>http://portal.localhost:8085/app/portal-report</a:t>
            </a:r>
          </a:p>
        </p:txBody>
      </p:sp>
      <p:sp>
        <p:nvSpPr>
          <p:cNvPr id="7" name="">
            <a:extLst>
              <a:ext uri="{FF2B5EF4-FFF2-40B4-BE49-F238E27FC236}">
                <ns2:creationId id="{3FAC2F6D-D897-4F39-A11B-9E498584320F}"/>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عنوان: «گزارش آزمایشی فناوری اطلاعات»</a:t>
            </a:r>
          </a:p>
        </p:txBody>
      </p:sp>
      <p:sp>
        <p:nvSpPr>
          <p:cNvPr id="8" name="">
            <a:extLst>
              <a:ext uri="{FF2B5EF4-FFF2-40B4-BE49-F238E27FC236}">
                <ns2:creationId id="{2C0CEFD8-B8C3-4A3A-BA3E-05C67AA6234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‏۲۰</a:t>
            </a:r>
          </a:p>
        </p:txBody>
      </p:sp>
    </p:spTree>
    <p:extLst>
      <p:ext uri="{BB962C8B-B14F-4D97-AF65-F5344CB8AC3E}">
        <ns4:creationId val="93919987"/>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497A40FF-819A-4936-8C9B-32A550088878}"/>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‏ارسال گزارش برای مدیر</a:t>
            </a:r>
          </a:p>
        </p:txBody>
      </p:sp>
      <p:sp>
        <p:nvSpPr>
          <p:cNvPr id="2" name="">
            <a:extLst>
              <a:ext uri="{FF2B5EF4-FFF2-40B4-BE49-F238E27FC236}">
                <ns2:creationId id="{098CE0FD-F667-46F7-B5D9-811B91E755FD}"/>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پیش‌نویس را دوباره بخوانید و بازه دوره را بررسی کنید.</a:t>
            </a:r>
          </a:p>
        </p:txBody>
      </p:sp>
      <p:sp>
        <p:nvSpPr>
          <p:cNvPr id="3" name="">
            <a:extLst>
              <a:ext uri="{FF2B5EF4-FFF2-40B4-BE49-F238E27FC236}">
                <ns2:creationId id="{40E7F72F-4294-4EBC-B498-061B6D9DB8F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گردش گزارش را به «ارسال‌شده» تغییر دهید.</a:t>
            </a:r>
          </a:p>
        </p:txBody>
      </p:sp>
      <p:sp>
        <p:nvSpPr>
          <p:cNvPr id="4" name="">
            <a:extLst>
              <a:ext uri="{FF2B5EF4-FFF2-40B4-BE49-F238E27FC236}">
                <ns2:creationId id="{841E3BDA-5FA6-44DF-9095-683F9C5B0655}"/>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ذخیره کنید تا مقادیر شاخص‌ها در گزارش ثبت شوند.</a:t>
            </a:r>
          </a:p>
        </p:txBody>
      </p:sp>
      <p:sp>
        <p:nvSpPr>
          <p:cNvPr id="5" name="">
            <a:extLst>
              <a:ext uri="{FF2B5EF4-FFF2-40B4-BE49-F238E27FC236}">
                <ns2:creationId id="{1F331383-DDD5-4880-BC3C-D6436B7C58CA}"/>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ریز شاخص‌ها را در جدول فارسی پایین فرم ببینید.</a:t>
            </a:r>
          </a:p>
        </p:txBody>
      </p:sp>
      <p:sp>
        <p:nvSpPr>
          <p:cNvPr id="6" name="">
            <a:extLst>
              <a:ext uri="{FF2B5EF4-FFF2-40B4-BE49-F238E27FC236}">
                <ns2:creationId id="{9B1E14B8-65C3-4826-891C-7527AF5319A7}"/>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‏تغییر بعدی مقدار شاخص، نسخه ثبت‌شده این گزارش را عوض نمی‌کند.</a:t>
            </a:r>
          </a:p>
        </p:txBody>
      </p:sp>
      <p:sp>
        <p:nvSpPr>
          <p:cNvPr id="7" name="">
            <a:extLst>
              <a:ext uri="{FF2B5EF4-FFF2-40B4-BE49-F238E27FC236}">
                <ns2:creationId id="{5DE2B13E-0971-4D10-9D73-E19A806D551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‏۲۱</a:t>
            </a:r>
          </a:p>
        </p:txBody>
      </p:sp>
    </p:spTree>
    <p:extLst>
      <p:ext uri="{BB962C8B-B14F-4D97-AF65-F5344CB8AC3E}">
        <ns3:creationId val="186192817"/>
      </p:ext>
    </p:extLst>
  </p:cSld>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8ED9F65B-B159-4319-A0D1-C1A0DA469BC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‏خواندن ریز گزارش</a:t>
            </a:r>
          </a:p>
        </p:txBody>
      </p:sp>
      <p:sp>
        <p:nvSpPr>
          <p:cNvPr id="2" name="">
            <a:extLst>
              <a:ext uri="{FF2B5EF4-FFF2-40B4-BE49-F238E27FC236}">
                <ns2:creationId id="{69A8540D-258A-4188-8C7D-DF0B1578199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‏بالای فرم: دستاوردها، موانع و برنامه بعدِ مسئول واحد</a:t>
            </a:r>
          </a:p>
        </p:txBody>
      </p:sp>
      <p:sp>
        <p:nvSpPr>
          <p:cNvPr id="3" name="">
            <a:extLst>
              <a:ext uri="{FF2B5EF4-FFF2-40B4-BE49-F238E27FC236}">
                <ns2:creationId id="{83587495-11BF-4DA5-B5F2-A0EB3E99F2B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‏جدول پایین: نام شاخص، مقدار، واحد و وضعیت اعتبار داده</a:t>
            </a:r>
          </a:p>
        </p:txBody>
      </p:sp>
      <p:sp>
        <p:nvSpPr>
          <p:cNvPr id="4" name="">
            <a:extLst>
              <a:ext uri="{FF2B5EF4-FFF2-40B4-BE49-F238E27FC236}">
                <ns2:creationId id="{AB97B57D-C03C-4976-8232-EAE032BDFB1D}"/>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‏ستون‌های هدف و ارزیابی: فعلاً هدف تعیین نشده است</a:t>
            </a:r>
          </a:p>
        </p:txBody>
      </p:sp>
      <p:sp>
        <p:nvSpPr>
          <p:cNvPr id="5" name="">
            <a:extLst>
              <a:ext uri="{FF2B5EF4-FFF2-40B4-BE49-F238E27FC236}">
                <ns2:creationId id="{BA063524-E6E0-449A-A768-5155E598696C}"/>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‏منبع و زمان به‌روزرسانی: مبنای عدد گزارش‌شده</a:t>
            </a:r>
          </a:p>
        </p:txBody>
      </p:sp>
      <p:sp>
        <p:nvSpPr>
          <p:cNvPr id="6" name="">
            <a:extLst>
              <a:ext uri="{FF2B5EF4-FFF2-40B4-BE49-F238E27FC236}">
                <ns2:creationId id="{F8599548-C58D-488C-BB2F-C634EAAAE23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‏‎JSON‎ فنی پنهان است؛ جدول فارسی همان مقادیر هنگام ارسال را نمایش می‌دهد.</a:t>
            </a:r>
          </a:p>
        </p:txBody>
      </p:sp>
      <p:sp>
        <p:nvSpPr>
          <p:cNvPr id="7" name="">
            <a:extLst>
              <a:ext uri="{FF2B5EF4-FFF2-40B4-BE49-F238E27FC236}">
                <ns2:creationId id="{F433E9A3-E3AB-431D-BE44-673C6D1349EC}"/>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‏۲۲</a:t>
            </a:r>
          </a:p>
        </p:txBody>
      </p:sp>
    </p:spTree>
    <p:extLst>
      <p:ext uri="{BB962C8B-B14F-4D97-AF65-F5344CB8AC3E}">
        <ns3:creationId val="1840713925"/>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CE4387F-D37E-46C9-8416-AA1491008E13}"/>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‏بررسی و تأیید مدیر</a:t>
            </a:r>
          </a:p>
        </p:txBody>
      </p:sp>
      <p:sp>
        <p:nvSpPr>
          <p:cNvPr id="2" name="">
            <a:extLst>
              <a:ext uri="{FF2B5EF4-FFF2-40B4-BE49-F238E27FC236}">
                <ns2:creationId id="{E5A7035E-17DC-4660-9AFE-5EF497981BC4}"/>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با حساب جواد چنارانی گزارش ارسال‌شده را باز می‌کند.</a:t>
            </a:r>
          </a:p>
        </p:txBody>
      </p:sp>
      <p:sp>
        <p:nvSpPr>
          <p:cNvPr id="3" name="">
            <a:extLst>
              <a:ext uri="{FF2B5EF4-FFF2-40B4-BE49-F238E27FC236}">
                <ns2:creationId id="{EA09F6F1-A0BD-4D2D-8C65-309D93ABA1D4}"/>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متن گزارش و جدول شاخص‌ها را می‌خواند.</a:t>
            </a:r>
          </a:p>
        </p:txBody>
      </p:sp>
      <p:sp>
        <p:nvSpPr>
          <p:cNvPr id="4" name="">
            <a:extLst>
              <a:ext uri="{FF2B5EF4-FFF2-40B4-BE49-F238E27FC236}">
                <ns2:creationId id="{B63F7EA5-CE40-450F-BA22-9AE4EB899A5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نظر خود را در «نظر مدیریت» ثبت می‌کند.</a:t>
            </a:r>
          </a:p>
        </p:txBody>
      </p:sp>
      <p:sp>
        <p:nvSpPr>
          <p:cNvPr id="5" name="">
            <a:extLst>
              <a:ext uri="{FF2B5EF4-FFF2-40B4-BE49-F238E27FC236}">
                <ns2:creationId id="{122AC4B7-EB63-48D4-9F5F-DB12AC9A7278}"/>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«تأییدشده» یا «نیازمند اصلاح» را انتخاب و ذخیره می‌کند.</a:t>
            </a:r>
          </a:p>
        </p:txBody>
      </p:sp>
      <p:sp>
        <p:nvSpPr>
          <p:cNvPr id="6" name="">
            <a:extLst>
              <a:ext uri="{FF2B5EF4-FFF2-40B4-BE49-F238E27FC236}">
                <ns2:creationId id="{9E49F532-66DC-4C6E-A997-EED77B28C9F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‏تأیید گزارش یعنی بررسی اطلاعات؛ به‌تنهایی نشانه موفقیت عملکرد نیست.</a:t>
            </a:r>
          </a:p>
        </p:txBody>
      </p:sp>
      <p:sp>
        <p:nvSpPr>
          <p:cNvPr id="7" name="">
            <a:extLst>
              <a:ext uri="{FF2B5EF4-FFF2-40B4-BE49-F238E27FC236}">
                <ns2:creationId id="{9C174D9A-E981-4679-AD5F-2086BD4E3ED9}"/>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‏۲۳</a:t>
            </a:r>
          </a:p>
        </p:txBody>
      </p:sp>
    </p:spTree>
    <p:extLst>
      <p:ext uri="{BB962C8B-B14F-4D97-AF65-F5344CB8AC3E}">
        <ns3:creationId val="625334663"/>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00AEB46-F7AB-438E-B8D9-81E2BE0BAD23}"/>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‏اصلاح گزارش</a:t>
            </a:r>
          </a:p>
        </p:txBody>
      </p:sp>
      <p:sp>
        <p:nvSpPr>
          <p:cNvPr id="2" name="">
            <a:extLst>
              <a:ext uri="{FF2B5EF4-FFF2-40B4-BE49-F238E27FC236}">
                <ns2:creationId id="{11651177-D06E-4AA4-941E-9D430942CEF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«نیازمند اصلاح»، مسئول متن را اصلاح و دوباره ارسال می‌کند.</a:t>
            </a:r>
          </a:p>
        </p:txBody>
      </p:sp>
      <p:sp>
        <p:nvSpPr>
          <p:cNvPr id="3" name="">
            <a:extLst>
              <a:ext uri="{FF2B5EF4-FFF2-40B4-BE49-F238E27FC236}">
                <ns2:creationId id="{8A262F95-2537-4611-B750-7767F0E633D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«تأییدشده» برای ویرایش مستقیم قفل است.</a:t>
            </a:r>
          </a:p>
        </p:txBody>
      </p:sp>
      <p:sp>
        <p:nvSpPr>
          <p:cNvPr id="4" name="">
            <a:extLst>
              <a:ext uri="{FF2B5EF4-FFF2-40B4-BE49-F238E27FC236}">
                <ns2:creationId id="{55AD1004-0A55-4EB9-A5EC-6FF134801FD2}"/>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تغییر گزارش تأییدشده، یک گزارش اصلاحیه جدید بسازید.</a:t>
            </a:r>
          </a:p>
        </p:txBody>
      </p:sp>
      <p:sp>
        <p:nvSpPr>
          <p:cNvPr id="5" name="">
            <a:extLst>
              <a:ext uri="{FF2B5EF4-FFF2-40B4-BE49-F238E27FC236}">
                <ns2:creationId id="{5864EE30-7FE0-47FF-ACD9-1D953EFCB1E9}"/>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فیلد «اصلاحیه گزارش»، گزارش اصلی را انتخاب کنید.</a:t>
            </a:r>
          </a:p>
        </p:txBody>
      </p:sp>
      <p:sp>
        <p:nvSpPr>
          <p:cNvPr id="6" name="">
            <a:extLst>
              <a:ext uri="{FF2B5EF4-FFF2-40B4-BE49-F238E27FC236}">
                <ns2:creationId id="{9D5FD03F-0D57-42EB-B5BD-A590B5317860}"/>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‏گزارش اصلی و سابقه تصمیم مدیریت حفظ می‌شوند.</a:t>
            </a:r>
          </a:p>
        </p:txBody>
      </p:sp>
      <p:sp>
        <p:nvSpPr>
          <p:cNvPr id="7" name="">
            <a:extLst>
              <a:ext uri="{FF2B5EF4-FFF2-40B4-BE49-F238E27FC236}">
                <ns2:creationId id="{DD8CE205-FBD5-4CE3-ADEB-3218FF7A0DCB}"/>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‏۲۴</a:t>
            </a:r>
          </a:p>
        </p:txBody>
      </p:sp>
    </p:spTree>
    <p:extLst>
      <p:ext uri="{BB962C8B-B14F-4D97-AF65-F5344CB8AC3E}">
        <ns3:creationId val="1189350683"/>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23986D4C-D622-43B7-AC56-3068C974E8FA}"/>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درخواست تصمیم</a:t>
            </a:r>
          </a:p>
        </p:txBody>
      </p:sp>
      <p:sp>
        <p:nvSpPr>
          <p:cNvPr id="2" name="">
            <a:extLst>
              <a:ext uri="{FF2B5EF4-FFF2-40B4-BE49-F238E27FC236}">
                <ns2:creationId id="{81004F3A-659E-4B29-966B-EC9BB4458295}"/>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با حساب مسئول، «درخواست و پاسخ تصمیم» را باز کنید.</a:t>
            </a:r>
          </a:p>
        </p:txBody>
      </p:sp>
      <p:sp>
        <p:nvSpPr>
          <p:cNvPr id="3" name="">
            <a:extLst>
              <a:ext uri="{FF2B5EF4-FFF2-40B4-BE49-F238E27FC236}">
                <ns2:creationId id="{8F5ECC48-C1DA-40FB-A63F-A3B75BF77A8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موضوع، حوزه و شرح درخواست را بنویسید.</a:t>
            </a:r>
          </a:p>
        </p:txBody>
      </p:sp>
      <p:sp>
        <p:nvSpPr>
          <p:cNvPr id="4" name="">
            <a:extLst>
              <a:ext uri="{FF2B5EF4-FFF2-40B4-BE49-F238E27FC236}">
                <ns2:creationId id="{E1D287D7-CDE0-4745-9E2B-4E265951CB17}"/>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اگر زمان مشخصی لازم است، موعد تصمیم را ثبت کنید.</a:t>
            </a:r>
          </a:p>
        </p:txBody>
      </p:sp>
      <p:sp>
        <p:nvSpPr>
          <p:cNvPr id="5" name="">
            <a:extLst>
              <a:ext uri="{FF2B5EF4-FFF2-40B4-BE49-F238E27FC236}">
                <ns2:creationId id="{21218906-8280-420E-B8E3-7ED9B302DE74}"/>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تمرین «آزمایشی» را تیک بزنید و ذخیره کنید.</a:t>
            </a:r>
          </a:p>
        </p:txBody>
      </p:sp>
      <p:sp>
        <p:nvSpPr>
          <p:cNvPr id="6" name="">
            <a:extLst>
              <a:ext uri="{FF2B5EF4-FFF2-40B4-BE49-F238E27FC236}">
                <ns2:creationId id="{95863F51-622F-4993-9F26-6512894B70FF}"/>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0ae542f6c6cf4634"/>
              </a:rPr>
              <a:t>http://portal.localhost:8085/app/portal-decision</a:t>
            </a:r>
          </a:p>
        </p:txBody>
      </p:sp>
      <p:sp>
        <p:nvSpPr>
          <p:cNvPr id="7" name="">
            <a:extLst>
              <a:ext uri="{FF2B5EF4-FFF2-40B4-BE49-F238E27FC236}">
                <ns2:creationId id="{4912C0EA-5E3C-4180-BFAA-A9A8E1B601F5}"/>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«هفته آینده، تیکت‌ها در اولویت باشند یا بهبود گزارش‌ها؟»</a:t>
            </a:r>
          </a:p>
        </p:txBody>
      </p:sp>
      <p:sp>
        <p:nvSpPr>
          <p:cNvPr id="8" name="">
            <a:extLst>
              <a:ext uri="{FF2B5EF4-FFF2-40B4-BE49-F238E27FC236}">
                <ns2:creationId id="{08744584-E23E-46C2-9A94-FB8C7CCC286A}"/>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‏۲۵</a:t>
            </a:r>
          </a:p>
        </p:txBody>
      </p:sp>
    </p:spTree>
    <p:extLst>
      <p:ext uri="{BB962C8B-B14F-4D97-AF65-F5344CB8AC3E}">
        <ns4:creationId val="30202820"/>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F06393EE-E626-44F2-A95F-2801AA17A25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‏پاسخ مدیریت به درخواست</a:t>
            </a:r>
          </a:p>
        </p:txBody>
      </p:sp>
      <p:sp>
        <p:nvSpPr>
          <p:cNvPr id="2" name="">
            <a:extLst>
              <a:ext uri="{FF2B5EF4-FFF2-40B4-BE49-F238E27FC236}">
                <ns2:creationId id="{35EED1E3-C40D-42C1-BCC9-F50A9C977D5F}"/>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شرکت درخواست باز را باز می‌کند.</a:t>
            </a:r>
          </a:p>
        </p:txBody>
      </p:sp>
      <p:sp>
        <p:nvSpPr>
          <p:cNvPr id="3" name="">
            <a:extLst>
              <a:ext uri="{FF2B5EF4-FFF2-40B4-BE49-F238E27FC236}">
                <ns2:creationId id="{FDE159DD-9420-422C-BD6E-FF7792EBD91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تصمیم روشن را در «پاسخ مدیریت» می‌نویسد.</a:t>
            </a:r>
          </a:p>
        </p:txBody>
      </p:sp>
      <p:sp>
        <p:nvSpPr>
          <p:cNvPr id="4" name="">
            <a:extLst>
              <a:ext uri="{FF2B5EF4-FFF2-40B4-BE49-F238E27FC236}">
                <ns2:creationId id="{4216E6EF-6E08-4680-BF16-B56A104327D4}"/>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ذخیره می‌کند؛ وضعیت خودکار «پاسخ داده شده» می‌شود.</a:t>
            </a:r>
          </a:p>
        </p:txBody>
      </p:sp>
      <p:sp>
        <p:nvSpPr>
          <p:cNvPr id="5" name="">
            <a:extLst>
              <a:ext uri="{FF2B5EF4-FFF2-40B4-BE49-F238E27FC236}">
                <ns2:creationId id="{C4871CC2-4A0B-44B2-9E42-97CC4116102B}"/>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نام پاسخ‌دهنده و زمان پاسخ در سامانه ثبت می‌شوند.</a:t>
            </a:r>
          </a:p>
        </p:txBody>
      </p:sp>
      <p:sp>
        <p:nvSpPr>
          <p:cNvPr id="6" name="">
            <a:extLst>
              <a:ext uri="{FF2B5EF4-FFF2-40B4-BE49-F238E27FC236}">
                <ns2:creationId id="{BC1A5F96-04D6-40B5-864E-4AF1C949EEA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آموزشی: «ابتدا تیکت‌های فوری؛ سپس بهبود گزارش‌ها.»</a:t>
            </a:r>
          </a:p>
        </p:txBody>
      </p:sp>
      <p:sp>
        <p:nvSpPr>
          <p:cNvPr id="7" name="">
            <a:extLst>
              <a:ext uri="{FF2B5EF4-FFF2-40B4-BE49-F238E27FC236}">
                <ns2:creationId id="{81DFB511-7A21-4AB1-A8D8-4F2EF3D8C00F}"/>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‏۲۶</a:t>
            </a:r>
          </a:p>
        </p:txBody>
      </p:sp>
    </p:spTree>
    <p:extLst>
      <p:ext uri="{BB962C8B-B14F-4D97-AF65-F5344CB8AC3E}">
        <ns3:creationId val="456385463"/>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C3B92C7C-E87C-4366-80D7-F7A8679A319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‏پیگیری پاسخ‌ها در پورتال</a:t>
            </a:r>
          </a:p>
        </p:txBody>
      </p:sp>
      <p:sp>
        <p:nvSpPr>
          <p:cNvPr id="2" name="">
            <a:extLst>
              <a:ext uri="{FF2B5EF4-FFF2-40B4-BE49-F238E27FC236}">
                <ns2:creationId id="{90EA9BE9-2C62-4E17-9A7B-45F1A214E078}"/>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‏بخش «گزارش حوزه‌ها و تصمیم مدیریت» را پیدا کنید.</a:t>
            </a:r>
          </a:p>
        </p:txBody>
      </p:sp>
      <p:sp>
        <p:nvSpPr>
          <p:cNvPr id="3" name="">
            <a:extLst>
              <a:ext uri="{FF2B5EF4-FFF2-40B4-BE49-F238E27FC236}">
                <ns2:creationId id="{98027FDC-610C-48BF-94A9-2DB901929AF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‏گزارش‌ها و درخواست‌ها در دو قسمت جدا قرار دارند.</a:t>
            </a:r>
          </a:p>
        </p:txBody>
      </p:sp>
      <p:sp>
        <p:nvSpPr>
          <p:cNvPr id="4" name="">
            <a:extLst>
              <a:ext uri="{FF2B5EF4-FFF2-40B4-BE49-F238E27FC236}">
                <ns2:creationId id="{F45045F1-D08D-49E3-B083-FF141E738B7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‏پاسخ و نظر مدیر در کادر رنگی مشخص است.</a:t>
            </a:r>
          </a:p>
        </p:txBody>
      </p:sp>
      <p:sp>
        <p:nvSpPr>
          <p:cNvPr id="5" name="">
            <a:extLst>
              <a:ext uri="{FF2B5EF4-FFF2-40B4-BE49-F238E27FC236}">
                <ns2:creationId id="{DF06FF7D-593D-4DDA-8F4B-CA82980FFBA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متن کامل و شاخص‌ها، «مشاهده جزئیات» را بزنید.</a:t>
            </a:r>
          </a:p>
        </p:txBody>
      </p:sp>
      <p:sp>
        <p:nvSpPr>
          <p:cNvPr id="6" name="">
            <a:extLst>
              <a:ext uri="{FF2B5EF4-FFF2-40B4-BE49-F238E27FC236}">
                <ns2:creationId id="{34F51EAB-0ACD-4BDA-85E8-41EA8102060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‏حوزه و نوع داده انتخاب‌شده بر موارد قابل مشاهده اثر دارند.</a:t>
            </a:r>
          </a:p>
        </p:txBody>
      </p:sp>
      <p:sp>
        <p:nvSpPr>
          <p:cNvPr id="7" name="">
            <a:extLst>
              <a:ext uri="{FF2B5EF4-FFF2-40B4-BE49-F238E27FC236}">
                <ns2:creationId id="{E10B085C-B6A3-411B-9F69-80943527AEC6}"/>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‏۲۷</a:t>
            </a:r>
          </a:p>
        </p:txBody>
      </p:sp>
    </p:spTree>
    <p:extLst>
      <p:ext uri="{BB962C8B-B14F-4D97-AF65-F5344CB8AC3E}">
        <ns3:creationId val="565567606"/>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1656382-3CCD-47F2-80A8-16486DC08584}"/>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‏چاپ و خروجی ‎CSV‎</a:t>
            </a:r>
          </a:p>
        </p:txBody>
      </p:sp>
      <p:sp>
        <p:nvSpPr>
          <p:cNvPr id="2" name="">
            <a:extLst>
              <a:ext uri="{FF2B5EF4-FFF2-40B4-BE49-F238E27FC236}">
                <ns2:creationId id="{32287B0D-6E46-4E5C-9173-8D3CE222153C}"/>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گزارش اقدامات، ابتدا حوزه و بازه را انتخاب کنید.</a:t>
            </a:r>
          </a:p>
        </p:txBody>
      </p:sp>
      <p:sp>
        <p:nvSpPr>
          <p:cNvPr id="3" name="">
            <a:extLst>
              <a:ext uri="{FF2B5EF4-FFF2-40B4-BE49-F238E27FC236}">
                <ns2:creationId id="{B1C80157-A94D-46A6-954A-43092B6A66B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فایل قابل بازکردن در ‎Excel‎، «خروجی ‎CSV‎» را بزنید.</a:t>
            </a:r>
          </a:p>
        </p:txBody>
      </p:sp>
      <p:sp>
        <p:nvSpPr>
          <p:cNvPr id="4" name="">
            <a:extLst>
              <a:ext uri="{FF2B5EF4-FFF2-40B4-BE49-F238E27FC236}">
                <ns2:creationId id="{9E37284F-D018-486C-AA09-EEF3C7869DC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جلسه، «چاپ» را بزنید و پیش‌نمایش مرورگر را ببینید.</a:t>
            </a:r>
          </a:p>
        </p:txBody>
      </p:sp>
      <p:sp>
        <p:nvSpPr>
          <p:cNvPr id="5" name="">
            <a:extLst>
              <a:ext uri="{FF2B5EF4-FFF2-40B4-BE49-F238E27FC236}">
                <ns2:creationId id="{BA69F149-B641-4529-88AB-3B4AA1D55848}"/>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‏خروجی فعلی ‎CSV‎ مربوط به اقدامات نمایش‌داده‌شده است.</a:t>
            </a:r>
          </a:p>
        </p:txBody>
      </p:sp>
      <p:sp>
        <p:nvSpPr>
          <p:cNvPr id="6" name="">
            <a:extLst>
              <a:ext uri="{FF2B5EF4-FFF2-40B4-BE49-F238E27FC236}">
                <ns2:creationId id="{94B333CF-2A10-456F-832B-47E6F5928BDB}"/>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‏ناموجود و صفر را هنگام خواندن خروجی یکسان در نظر نگیرید.</a:t>
            </a:r>
          </a:p>
        </p:txBody>
      </p:sp>
      <p:sp>
        <p:nvSpPr>
          <p:cNvPr id="7" name="">
            <a:extLst>
              <a:ext uri="{FF2B5EF4-FFF2-40B4-BE49-F238E27FC236}">
                <ns2:creationId id="{441959AC-7E29-4C7D-9BB5-5EE9023E7A2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‏۲۸</a:t>
            </a:r>
          </a:p>
        </p:txBody>
      </p:sp>
    </p:spTree>
    <p:extLst>
      <p:ext uri="{BB962C8B-B14F-4D97-AF65-F5344CB8AC3E}">
        <ns3:creationId val="80470140"/>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0B94CD23-D396-4127-85E3-52F890DF2841}"/>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‏ورود فایل ‎CSV‎؛ در صورت نیاز</a:t>
            </a:r>
          </a:p>
        </p:txBody>
      </p:sp>
      <p:sp>
        <p:nvSpPr>
          <p:cNvPr id="2" name="">
            <a:extLst>
              <a:ext uri="{FF2B5EF4-FFF2-40B4-BE49-F238E27FC236}">
                <ns2:creationId id="{C1DDEF44-5C39-4760-9F17-5CBBCB2DB525}"/>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صفحه «ورود فایل ‎CSV‎» را باز و نوع داده را انتخاب کنید.</a:t>
            </a:r>
          </a:p>
        </p:txBody>
      </p:sp>
      <p:sp>
        <p:nvSpPr>
          <p:cNvPr id="3" name="">
            <a:extLst>
              <a:ext uri="{FF2B5EF4-FFF2-40B4-BE49-F238E27FC236}">
                <ns2:creationId id="{BD786517-0820-4EE4-BB13-6A5EE13A43C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فایل یوتی‌اف۸ با ستون‌های قالب نمونه آماده کنید.</a:t>
            </a:r>
          </a:p>
        </p:txBody>
      </p:sp>
      <p:sp>
        <p:nvSpPr>
          <p:cNvPr id="4" name="">
            <a:extLst>
              <a:ext uri="{FF2B5EF4-FFF2-40B4-BE49-F238E27FC236}">
                <ns2:creationId id="{25EEDFAD-27A1-4B27-84B8-ED07D4D828A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«بررسی و پیش‌نمایش» را بزنید و خطاها را رفع کنید.</a:t>
            </a:r>
          </a:p>
        </p:txBody>
      </p:sp>
      <p:sp>
        <p:nvSpPr>
          <p:cNvPr id="5" name="">
            <a:extLst>
              <a:ext uri="{FF2B5EF4-FFF2-40B4-BE49-F238E27FC236}">
                <ns2:creationId id="{DC99B267-9FA1-4123-A2AB-2378A24B1D8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فقط بعد از بررسی، فایل را ثبت کنید.</a:t>
            </a:r>
          </a:p>
        </p:txBody>
      </p:sp>
      <p:sp>
        <p:nvSpPr>
          <p:cNvPr id="6" name="">
            <a:extLst>
              <a:ext uri="{FF2B5EF4-FFF2-40B4-BE49-F238E27FC236}">
                <ns2:creationId id="{09BF1377-CCB9-495C-A556-40F1AA0B1583}"/>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16d1eea537e346c8"/>
              </a:rPr>
              <a:t>http://portal.localhost:8085/portal-import</a:t>
            </a:r>
          </a:p>
        </p:txBody>
      </p:sp>
      <p:sp>
        <p:nvSpPr>
          <p:cNvPr id="7" name="">
            <a:extLst>
              <a:ext uri="{FF2B5EF4-FFF2-40B4-BE49-F238E27FC236}">
                <ns2:creationId id="{3E113931-5972-4E6D-BE40-572DAF3508A1}"/>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‏تاریخ ‎CSV‎ میلادی ‎ISO‎ است؛ حداکثر ۲۰۰ ردیف و یک مگابایت.</a:t>
            </a:r>
          </a:p>
        </p:txBody>
      </p:sp>
      <p:sp>
        <p:nvSpPr>
          <p:cNvPr id="8" name="">
            <a:extLst>
              <a:ext uri="{FF2B5EF4-FFF2-40B4-BE49-F238E27FC236}">
                <ns2:creationId id="{F88D0980-4DC0-46A7-826E-6254124210B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‏۲۹</a:t>
            </a:r>
          </a:p>
        </p:txBody>
      </p:sp>
    </p:spTree>
    <p:extLst>
      <p:ext uri="{BB962C8B-B14F-4D97-AF65-F5344CB8AC3E}">
        <ns4:creationId val="992544828"/>
      </p:ext>
    </p:extLst>
  </p:cSld>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8071E6DB-41D1-4D89-B9D8-1D176584E75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‏وقتی چیزی دیده نمی‌شود</a:t>
            </a:r>
          </a:p>
        </p:txBody>
      </p:sp>
      <p:sp>
        <p:nvSpPr>
          <p:cNvPr id="2" name="">
            <a:extLst>
              <a:ext uri="{FF2B5EF4-FFF2-40B4-BE49-F238E27FC236}">
                <ns2:creationId id="{0434E22F-44D1-4C83-864F-9A798BA2A8D7}"/>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‏خالی‌بودن فهرست: حوزه، بازه و واقعی/آزمایشی را بررسی کنید.</a:t>
            </a:r>
          </a:p>
        </p:txBody>
      </p:sp>
      <p:sp>
        <p:nvSpPr>
          <p:cNvPr id="3" name="">
            <a:extLst>
              <a:ext uri="{FF2B5EF4-FFF2-40B4-BE49-F238E27FC236}">
                <ns2:creationId id="{89E8DECB-C4B4-4E83-A644-3EECF3F50A1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‏نبود دکمه پیشرفت: مسئول همان کار و حساب ورود را بررسی کنید.</a:t>
            </a:r>
          </a:p>
        </p:txBody>
      </p:sp>
      <p:sp>
        <p:nvSpPr>
          <p:cNvPr id="4" name="">
            <a:extLst>
              <a:ext uri="{FF2B5EF4-FFF2-40B4-BE49-F238E27FC236}">
                <ns2:creationId id="{20CE1E89-1BB3-44AF-A88D-FFA3A6E681A9}"/>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‏نبود دکمه تعریف شاخص: برای کارمند، محدودیت درست است.</a:t>
            </a:r>
          </a:p>
        </p:txBody>
      </p:sp>
      <p:sp>
        <p:nvSpPr>
          <p:cNvPr id="5" name="">
            <a:extLst>
              <a:ext uri="{FF2B5EF4-FFF2-40B4-BE49-F238E27FC236}">
                <ns2:creationId id="{3AC7A4BD-FC2D-43F6-B86C-B73EC522B94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‏قدیمی‌بودن ظاهر: پس از حفظ فرم، کلیدهای کنترل و اف۵ بزنید.</a:t>
            </a:r>
          </a:p>
        </p:txBody>
      </p:sp>
      <p:sp>
        <p:nvSpPr>
          <p:cNvPr id="6" name="">
            <a:extLst>
              <a:ext uri="{FF2B5EF4-FFF2-40B4-BE49-F238E27FC236}">
                <ns2:creationId id="{2F3515C4-6D5A-41EC-9981-3458417380D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‏اگر خطا باقی ماند، متن خطا یا تصویر بدون رمز را به مدیر سامانه بدهید.</a:t>
            </a:r>
          </a:p>
        </p:txBody>
      </p:sp>
      <p:sp>
        <p:nvSpPr>
          <p:cNvPr id="7" name="">
            <a:extLst>
              <a:ext uri="{FF2B5EF4-FFF2-40B4-BE49-F238E27FC236}">
                <ns2:creationId id="{6CC35A3E-AE12-411B-9D19-B818740233A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‏۳۰</a:t>
            </a:r>
          </a:p>
        </p:txBody>
      </p:sp>
    </p:spTree>
    <p:extLst>
      <p:ext uri="{BB962C8B-B14F-4D97-AF65-F5344CB8AC3E}">
        <ns3:creationId val="729832744"/>
      </p:ext>
    </p:extLst>
  </p:cSld>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5E767559-FE8D-4920-AC33-16CC006E0CD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‏شروع کار واقعی</a:t>
            </a:r>
          </a:p>
        </p:txBody>
      </p:sp>
      <p:sp>
        <p:nvSpPr>
          <p:cNvPr id="2" name="">
            <a:extLst>
              <a:ext uri="{FF2B5EF4-FFF2-40B4-BE49-F238E27FC236}">
                <ns2:creationId id="{6A78018F-7FBD-4606-9168-DB443AB5A6C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‏مسئول واحد: در روز کار، پیشرفت و نتیجه واقعی را ثبت کند.</a:t>
            </a:r>
          </a:p>
        </p:txBody>
      </p:sp>
      <p:sp>
        <p:nvSpPr>
          <p:cNvPr id="3" name="">
            <a:extLst>
              <a:ext uri="{FF2B5EF4-FFF2-40B4-BE49-F238E27FC236}">
                <ns2:creationId id="{EC84664C-B148-4969-9CB7-7FF4D95B6D6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‏شاخص: فقط عدد قابل اتکا را با منبع و دوره درست ثبت کنید.</a:t>
            </a:r>
          </a:p>
        </p:txBody>
      </p:sp>
      <p:sp>
        <p:nvSpPr>
          <p:cNvPr id="4" name="">
            <a:extLst>
              <a:ext uri="{FF2B5EF4-FFF2-40B4-BE49-F238E27FC236}">
                <ns2:creationId id="{AC3E15B0-A8CA-4878-88DF-330D5FFD188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دوره‌ای: دستاورد، مانع و درخواست مدیریت را جمع‌بندی کنید.</a:t>
            </a:r>
          </a:p>
        </p:txBody>
      </p:sp>
      <p:sp>
        <p:nvSpPr>
          <p:cNvPr id="5" name="">
            <a:extLst>
              <a:ext uri="{FF2B5EF4-FFF2-40B4-BE49-F238E27FC236}">
                <ns2:creationId id="{E38FADF3-D475-4028-A0BA-F49F14E06AD6}"/>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‏مدیر: گزارش‌ها و درخواست‌ها را بررسی و پاسخ را ثبت کند.</a:t>
            </a:r>
          </a:p>
        </p:txBody>
      </p:sp>
      <p:sp>
        <p:nvSpPr>
          <p:cNvPr id="6" name="">
            <a:extLst>
              <a:ext uri="{FF2B5EF4-FFF2-40B4-BE49-F238E27FC236}">
                <ns2:creationId id="{E88A3EB7-45F6-430D-A9C8-60DEB3D4705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‏اهداف عددی فعلاً تعیین نشده‌اند؛ انجام کار در موعد قابل پیگیری است.</a:t>
            </a:r>
          </a:p>
        </p:txBody>
      </p:sp>
      <p:sp>
        <p:nvSpPr>
          <p:cNvPr id="7" name="">
            <a:extLst>
              <a:ext uri="{FF2B5EF4-FFF2-40B4-BE49-F238E27FC236}">
                <ns2:creationId id="{881DE2DE-70D8-4663-A28B-EE0E1B8317A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‏۳۱</a:t>
            </a:r>
          </a:p>
        </p:txBody>
      </p:sp>
    </p:spTree>
    <p:extLst>
      <p:ext uri="{BB962C8B-B14F-4D97-AF65-F5344CB8AC3E}">
        <ns3:creationId val="744543353"/>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77F7363C-3858-4403-B95C-045FD524FF9F}"/>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‏تمرین کامل آموزشی</a:t>
            </a:r>
          </a:p>
        </p:txBody>
      </p:sp>
      <p:sp>
        <p:nvSpPr>
          <p:cNvPr id="2" name="">
            <a:extLst>
              <a:ext uri="{FF2B5EF4-FFF2-40B4-BE49-F238E27FC236}">
                <ns2:creationId id="{3EC798F4-6C70-4658-9F15-9475BACB9DB6}"/>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‏یک کار آزمایشی را در حال انجام کنید و سپس با نتیجه تکمیل کنید.</a:t>
            </a:r>
          </a:p>
        </p:txBody>
      </p:sp>
      <p:sp>
        <p:nvSpPr>
          <p:cNvPr id="3" name="">
            <a:extLst>
              <a:ext uri="{FF2B5EF4-FFF2-40B4-BE49-F238E27FC236}">
                <ns2:creationId id="{86929AF1-FDDC-401A-B414-E65610185A6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‏مقدار آزمایشی «تیکت حل‌شده: ۳» را ثبت و در گزارش ببینید.</a:t>
            </a:r>
          </a:p>
        </p:txBody>
      </p:sp>
      <p:sp>
        <p:nvSpPr>
          <p:cNvPr id="4" name="">
            <a:extLst>
              <a:ext uri="{FF2B5EF4-FFF2-40B4-BE49-F238E27FC236}">
                <ns2:creationId id="{ADB19311-19EA-4B80-9248-A17EEC4E545D}"/>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آزمایشی را ارسال و با حساب مدیر بررسی و تأیید کنید.</a:t>
            </a:r>
          </a:p>
        </p:txBody>
      </p:sp>
      <p:sp>
        <p:nvSpPr>
          <p:cNvPr id="5" name="">
            <a:extLst>
              <a:ext uri="{FF2B5EF4-FFF2-40B4-BE49-F238E27FC236}">
                <ns2:creationId id="{6153C5CC-17C9-4EB6-8512-810E3BD23DD4}"/>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‏یک درخواست آزمایشی بسازید و پاسخ مدیر را در کارت مربوط ببینید.</a:t>
            </a:r>
          </a:p>
        </p:txBody>
      </p:sp>
      <p:sp>
        <p:nvSpPr>
          <p:cNvPr id="6" name="">
            <a:extLst>
              <a:ext uri="{FF2B5EF4-FFF2-40B4-BE49-F238E27FC236}">
                <ns2:creationId id="{14366209-2062-41AA-90E8-D782BB13603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‏اگر این چهار مسیر را انجام دادید، آماده شروع ثبت منظم اطلاعات هستید.</a:t>
            </a:r>
          </a:p>
        </p:txBody>
      </p:sp>
      <p:sp>
        <p:nvSpPr>
          <p:cNvPr id="7" name="">
            <a:extLst>
              <a:ext uri="{FF2B5EF4-FFF2-40B4-BE49-F238E27FC236}">
                <ns2:creationId id="{E590DD61-0B15-4114-A3D9-4A411866509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‏۳۲</a:t>
            </a:r>
          </a:p>
        </p:txBody>
      </p:sp>
    </p:spTree>
    <p:extLst>
      <p:ext uri="{BB962C8B-B14F-4D97-AF65-F5344CB8AC3E}">
        <ns3:creationId val="107165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2026-10-14T12:20:14.1090000Z</dcterms:created>
  <dcterms:modified xsi:type="dcterms:W3CDTF">2026-10-14T12:20:14.1090000Z</dcterms:modified>
</coreProperties>
</file>